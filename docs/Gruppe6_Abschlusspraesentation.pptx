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57" r:id="rId4"/>
    <p:sldId id="258" r:id="rId5"/>
    <p:sldId id="272" r:id="rId6"/>
    <p:sldId id="274" r:id="rId7"/>
    <p:sldId id="275" r:id="rId8"/>
    <p:sldId id="276" r:id="rId9"/>
    <p:sldId id="278" r:id="rId10"/>
    <p:sldId id="279" r:id="rId11"/>
    <p:sldId id="280" r:id="rId12"/>
    <p:sldId id="285" r:id="rId13"/>
    <p:sldId id="286" r:id="rId14"/>
    <p:sldId id="262" r:id="rId15"/>
    <p:sldId id="281" r:id="rId16"/>
    <p:sldId id="270" r:id="rId17"/>
    <p:sldId id="282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6A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1FD991-0E6A-63E3-0E71-C584445AD1C5}" v="13" dt="2026-02-03T19:19:27.332"/>
    <p1510:client id="{832C0EB3-D358-455D-9D42-46232C6F0E5B}" v="2865" dt="2026-02-03T16:34:40.930"/>
    <p1510:client id="{A8251848-27EE-48CB-82C8-C7C41A4346C1}" v="27" dt="2026-02-04T12:24:18.094"/>
    <p1510:client id="{ADC2562D-95B5-05A0-DDAC-5FC8DC89CA0E}" v="5" dt="2026-02-04T07:18:04.595"/>
    <p1510:client id="{D2BBF4C6-AB81-2F27-A1DC-EE1487CC8138}" v="296" dt="2026-02-04T12:53:55.094"/>
    <p1510:client id="{E89A0D44-BCE0-FEC6-9CB8-B26C6F2CA725}" v="2939" dt="2026-02-04T12:56:26.655"/>
    <p1510:client id="{F1A4BECA-B808-471D-9228-8E9E97F252CF}" v="2" dt="2026-02-04T10:27:42.3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9" d="100"/>
          <a:sy n="109" d="100"/>
        </p:scale>
        <p:origin x="63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43600C-3673-4E67-BADA-F92EC2BC7CBB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799541B-5A06-4AB7-8D5B-7E37A7FE36D7}">
      <dgm:prSet/>
      <dgm:spPr/>
      <dgm:t>
        <a:bodyPr/>
        <a:lstStyle/>
        <a:p>
          <a:r>
            <a:rPr lang="de-DE"/>
            <a:t>Dateien werden an Lora Gateway gesendet </a:t>
          </a:r>
          <a:endParaRPr lang="en-US"/>
        </a:p>
      </dgm:t>
    </dgm:pt>
    <dgm:pt modelId="{904D8EF7-04AD-49D1-ACBB-F7A01E9CCE64}" type="parTrans" cxnId="{11083EC3-B6DA-46D6-9AEF-67B229E4E2C0}">
      <dgm:prSet/>
      <dgm:spPr/>
      <dgm:t>
        <a:bodyPr/>
        <a:lstStyle/>
        <a:p>
          <a:endParaRPr lang="en-US"/>
        </a:p>
      </dgm:t>
    </dgm:pt>
    <dgm:pt modelId="{6ECD755E-823B-4AA6-8E81-3808E016291C}" type="sibTrans" cxnId="{11083EC3-B6DA-46D6-9AEF-67B229E4E2C0}">
      <dgm:prSet/>
      <dgm:spPr/>
      <dgm:t>
        <a:bodyPr/>
        <a:lstStyle/>
        <a:p>
          <a:endParaRPr lang="en-US"/>
        </a:p>
      </dgm:t>
    </dgm:pt>
    <dgm:pt modelId="{237681F8-93AA-4349-8A6A-B8F0EF514E22}">
      <dgm:prSet/>
      <dgm:spPr/>
      <dgm:t>
        <a:bodyPr/>
        <a:lstStyle/>
        <a:p>
          <a:r>
            <a:rPr lang="de-DE"/>
            <a:t>PC hört Gateway ab und nimmt sich die Daten</a:t>
          </a:r>
          <a:endParaRPr lang="en-US"/>
        </a:p>
      </dgm:t>
    </dgm:pt>
    <dgm:pt modelId="{65861533-3829-4877-9B29-7E19DADD9194}" type="parTrans" cxnId="{FA226C52-725D-422E-AE36-395D051FAF68}">
      <dgm:prSet/>
      <dgm:spPr/>
      <dgm:t>
        <a:bodyPr/>
        <a:lstStyle/>
        <a:p>
          <a:endParaRPr lang="en-US"/>
        </a:p>
      </dgm:t>
    </dgm:pt>
    <dgm:pt modelId="{B928C2F3-5997-43C3-A62F-17DEFBE14420}" type="sibTrans" cxnId="{FA226C52-725D-422E-AE36-395D051FAF68}">
      <dgm:prSet/>
      <dgm:spPr/>
      <dgm:t>
        <a:bodyPr/>
        <a:lstStyle/>
        <a:p>
          <a:endParaRPr lang="en-US"/>
        </a:p>
      </dgm:t>
    </dgm:pt>
    <dgm:pt modelId="{C0C0F8E0-7A56-4C13-B0CF-B5199CCE2E2F}">
      <dgm:prSet/>
      <dgm:spPr/>
      <dgm:t>
        <a:bodyPr/>
        <a:lstStyle/>
        <a:p>
          <a:r>
            <a:rPr lang="de-DE"/>
            <a:t>PC parsed das Paket und schreibt es in die InfluxDB</a:t>
          </a:r>
          <a:endParaRPr lang="en-US"/>
        </a:p>
      </dgm:t>
    </dgm:pt>
    <dgm:pt modelId="{BDCA27FB-0943-4A2A-9B64-308E185E1DA0}" type="parTrans" cxnId="{DA243F37-D74B-479F-8C13-6CACD5DEDEFA}">
      <dgm:prSet/>
      <dgm:spPr/>
      <dgm:t>
        <a:bodyPr/>
        <a:lstStyle/>
        <a:p>
          <a:endParaRPr lang="en-US"/>
        </a:p>
      </dgm:t>
    </dgm:pt>
    <dgm:pt modelId="{00DA62E7-6BDA-40A1-BFE2-32D0CF46BCEC}" type="sibTrans" cxnId="{DA243F37-D74B-479F-8C13-6CACD5DEDEFA}">
      <dgm:prSet/>
      <dgm:spPr/>
      <dgm:t>
        <a:bodyPr/>
        <a:lstStyle/>
        <a:p>
          <a:endParaRPr lang="en-US"/>
        </a:p>
      </dgm:t>
    </dgm:pt>
    <dgm:pt modelId="{1C8F06C3-25BE-4693-8856-29509F1EB7FB}" type="pres">
      <dgm:prSet presAssocID="{D343600C-3673-4E67-BADA-F92EC2BC7CB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338AC10-ED14-43DA-81EB-4E442325CAF4}" type="pres">
      <dgm:prSet presAssocID="{7799541B-5A06-4AB7-8D5B-7E37A7FE36D7}" presName="hierRoot1" presStyleCnt="0"/>
      <dgm:spPr/>
    </dgm:pt>
    <dgm:pt modelId="{E509C794-EEC1-4551-9CCB-71EA48A1B19D}" type="pres">
      <dgm:prSet presAssocID="{7799541B-5A06-4AB7-8D5B-7E37A7FE36D7}" presName="composite" presStyleCnt="0"/>
      <dgm:spPr/>
    </dgm:pt>
    <dgm:pt modelId="{716943C6-7191-428C-A647-8D37BBED1FCC}" type="pres">
      <dgm:prSet presAssocID="{7799541B-5A06-4AB7-8D5B-7E37A7FE36D7}" presName="background" presStyleLbl="node0" presStyleIdx="0" presStyleCnt="3"/>
      <dgm:spPr/>
    </dgm:pt>
    <dgm:pt modelId="{CB5CB568-06F6-4701-BD15-54F2C923A343}" type="pres">
      <dgm:prSet presAssocID="{7799541B-5A06-4AB7-8D5B-7E37A7FE36D7}" presName="text" presStyleLbl="fgAcc0" presStyleIdx="0" presStyleCnt="3">
        <dgm:presLayoutVars>
          <dgm:chPref val="3"/>
        </dgm:presLayoutVars>
      </dgm:prSet>
      <dgm:spPr/>
    </dgm:pt>
    <dgm:pt modelId="{C96FDE37-C4E7-44F5-ABD0-CF4A9DA9C8F1}" type="pres">
      <dgm:prSet presAssocID="{7799541B-5A06-4AB7-8D5B-7E37A7FE36D7}" presName="hierChild2" presStyleCnt="0"/>
      <dgm:spPr/>
    </dgm:pt>
    <dgm:pt modelId="{1026A79B-2741-413F-8DA0-A9A267D9E0F0}" type="pres">
      <dgm:prSet presAssocID="{237681F8-93AA-4349-8A6A-B8F0EF514E22}" presName="hierRoot1" presStyleCnt="0"/>
      <dgm:spPr/>
    </dgm:pt>
    <dgm:pt modelId="{C19F7659-81F7-4AD0-99B1-22DB11A9EC9C}" type="pres">
      <dgm:prSet presAssocID="{237681F8-93AA-4349-8A6A-B8F0EF514E22}" presName="composite" presStyleCnt="0"/>
      <dgm:spPr/>
    </dgm:pt>
    <dgm:pt modelId="{CB70CFEC-F9BF-4052-9CD7-4049AE1B0CA4}" type="pres">
      <dgm:prSet presAssocID="{237681F8-93AA-4349-8A6A-B8F0EF514E22}" presName="background" presStyleLbl="node0" presStyleIdx="1" presStyleCnt="3"/>
      <dgm:spPr/>
    </dgm:pt>
    <dgm:pt modelId="{5AD36D90-D4F2-493B-A4EA-5627ACD583D2}" type="pres">
      <dgm:prSet presAssocID="{237681F8-93AA-4349-8A6A-B8F0EF514E22}" presName="text" presStyleLbl="fgAcc0" presStyleIdx="1" presStyleCnt="3">
        <dgm:presLayoutVars>
          <dgm:chPref val="3"/>
        </dgm:presLayoutVars>
      </dgm:prSet>
      <dgm:spPr/>
    </dgm:pt>
    <dgm:pt modelId="{FB8F9C6D-E6C4-48C4-94D0-463ED8ACDA18}" type="pres">
      <dgm:prSet presAssocID="{237681F8-93AA-4349-8A6A-B8F0EF514E22}" presName="hierChild2" presStyleCnt="0"/>
      <dgm:spPr/>
    </dgm:pt>
    <dgm:pt modelId="{D226951F-A415-45D4-B587-1E9AF7563D65}" type="pres">
      <dgm:prSet presAssocID="{C0C0F8E0-7A56-4C13-B0CF-B5199CCE2E2F}" presName="hierRoot1" presStyleCnt="0"/>
      <dgm:spPr/>
    </dgm:pt>
    <dgm:pt modelId="{F53B887C-56C1-4BAE-9CF3-34C53DBCDFD5}" type="pres">
      <dgm:prSet presAssocID="{C0C0F8E0-7A56-4C13-B0CF-B5199CCE2E2F}" presName="composite" presStyleCnt="0"/>
      <dgm:spPr/>
    </dgm:pt>
    <dgm:pt modelId="{9E098A09-6E65-4956-A53A-10B58731E444}" type="pres">
      <dgm:prSet presAssocID="{C0C0F8E0-7A56-4C13-B0CF-B5199CCE2E2F}" presName="background" presStyleLbl="node0" presStyleIdx="2" presStyleCnt="3"/>
      <dgm:spPr/>
    </dgm:pt>
    <dgm:pt modelId="{BC030AF5-F67D-4715-B3A8-D6E0B6CCEB04}" type="pres">
      <dgm:prSet presAssocID="{C0C0F8E0-7A56-4C13-B0CF-B5199CCE2E2F}" presName="text" presStyleLbl="fgAcc0" presStyleIdx="2" presStyleCnt="3">
        <dgm:presLayoutVars>
          <dgm:chPref val="3"/>
        </dgm:presLayoutVars>
      </dgm:prSet>
      <dgm:spPr/>
    </dgm:pt>
    <dgm:pt modelId="{B9920A3E-556F-4E4F-ABBF-887C2C5C96E9}" type="pres">
      <dgm:prSet presAssocID="{C0C0F8E0-7A56-4C13-B0CF-B5199CCE2E2F}" presName="hierChild2" presStyleCnt="0"/>
      <dgm:spPr/>
    </dgm:pt>
  </dgm:ptLst>
  <dgm:cxnLst>
    <dgm:cxn modelId="{D1777D19-F94E-448A-B430-B2EFEFD41B10}" type="presOf" srcId="{D343600C-3673-4E67-BADA-F92EC2BC7CBB}" destId="{1C8F06C3-25BE-4693-8856-29509F1EB7FB}" srcOrd="0" destOrd="0" presId="urn:microsoft.com/office/officeart/2005/8/layout/hierarchy1"/>
    <dgm:cxn modelId="{D40B2233-A677-4C59-BEFF-AEF368A902FA}" type="presOf" srcId="{7799541B-5A06-4AB7-8D5B-7E37A7FE36D7}" destId="{CB5CB568-06F6-4701-BD15-54F2C923A343}" srcOrd="0" destOrd="0" presId="urn:microsoft.com/office/officeart/2005/8/layout/hierarchy1"/>
    <dgm:cxn modelId="{DA243F37-D74B-479F-8C13-6CACD5DEDEFA}" srcId="{D343600C-3673-4E67-BADA-F92EC2BC7CBB}" destId="{C0C0F8E0-7A56-4C13-B0CF-B5199CCE2E2F}" srcOrd="2" destOrd="0" parTransId="{BDCA27FB-0943-4A2A-9B64-308E185E1DA0}" sibTransId="{00DA62E7-6BDA-40A1-BFE2-32D0CF46BCEC}"/>
    <dgm:cxn modelId="{FA226C52-725D-422E-AE36-395D051FAF68}" srcId="{D343600C-3673-4E67-BADA-F92EC2BC7CBB}" destId="{237681F8-93AA-4349-8A6A-B8F0EF514E22}" srcOrd="1" destOrd="0" parTransId="{65861533-3829-4877-9B29-7E19DADD9194}" sibTransId="{B928C2F3-5997-43C3-A62F-17DEFBE14420}"/>
    <dgm:cxn modelId="{46983680-BC8A-40D7-B4B7-D4F19FF09822}" type="presOf" srcId="{C0C0F8E0-7A56-4C13-B0CF-B5199CCE2E2F}" destId="{BC030AF5-F67D-4715-B3A8-D6E0B6CCEB04}" srcOrd="0" destOrd="0" presId="urn:microsoft.com/office/officeart/2005/8/layout/hierarchy1"/>
    <dgm:cxn modelId="{52EF8CB0-57D4-4BA3-9345-01CA942524D5}" type="presOf" srcId="{237681F8-93AA-4349-8A6A-B8F0EF514E22}" destId="{5AD36D90-D4F2-493B-A4EA-5627ACD583D2}" srcOrd="0" destOrd="0" presId="urn:microsoft.com/office/officeart/2005/8/layout/hierarchy1"/>
    <dgm:cxn modelId="{11083EC3-B6DA-46D6-9AEF-67B229E4E2C0}" srcId="{D343600C-3673-4E67-BADA-F92EC2BC7CBB}" destId="{7799541B-5A06-4AB7-8D5B-7E37A7FE36D7}" srcOrd="0" destOrd="0" parTransId="{904D8EF7-04AD-49D1-ACBB-F7A01E9CCE64}" sibTransId="{6ECD755E-823B-4AA6-8E81-3808E016291C}"/>
    <dgm:cxn modelId="{A3DDBBB5-AA4C-4481-9E2D-8B490C8D85A8}" type="presParOf" srcId="{1C8F06C3-25BE-4693-8856-29509F1EB7FB}" destId="{5338AC10-ED14-43DA-81EB-4E442325CAF4}" srcOrd="0" destOrd="0" presId="urn:microsoft.com/office/officeart/2005/8/layout/hierarchy1"/>
    <dgm:cxn modelId="{45072B3B-80C4-4C51-89CC-5C02365A54E5}" type="presParOf" srcId="{5338AC10-ED14-43DA-81EB-4E442325CAF4}" destId="{E509C794-EEC1-4551-9CCB-71EA48A1B19D}" srcOrd="0" destOrd="0" presId="urn:microsoft.com/office/officeart/2005/8/layout/hierarchy1"/>
    <dgm:cxn modelId="{9167F29D-8A10-42B2-9F82-A1EA7ED9D62B}" type="presParOf" srcId="{E509C794-EEC1-4551-9CCB-71EA48A1B19D}" destId="{716943C6-7191-428C-A647-8D37BBED1FCC}" srcOrd="0" destOrd="0" presId="urn:microsoft.com/office/officeart/2005/8/layout/hierarchy1"/>
    <dgm:cxn modelId="{419DF54A-F379-426D-B04D-A11EA37DFCAB}" type="presParOf" srcId="{E509C794-EEC1-4551-9CCB-71EA48A1B19D}" destId="{CB5CB568-06F6-4701-BD15-54F2C923A343}" srcOrd="1" destOrd="0" presId="urn:microsoft.com/office/officeart/2005/8/layout/hierarchy1"/>
    <dgm:cxn modelId="{B99CFD1A-288A-4AB4-B9C7-90C430C1DE01}" type="presParOf" srcId="{5338AC10-ED14-43DA-81EB-4E442325CAF4}" destId="{C96FDE37-C4E7-44F5-ABD0-CF4A9DA9C8F1}" srcOrd="1" destOrd="0" presId="urn:microsoft.com/office/officeart/2005/8/layout/hierarchy1"/>
    <dgm:cxn modelId="{09CDBA01-B208-444A-B0E6-90376DB83832}" type="presParOf" srcId="{1C8F06C3-25BE-4693-8856-29509F1EB7FB}" destId="{1026A79B-2741-413F-8DA0-A9A267D9E0F0}" srcOrd="1" destOrd="0" presId="urn:microsoft.com/office/officeart/2005/8/layout/hierarchy1"/>
    <dgm:cxn modelId="{97B6C0EE-8617-42E9-B281-15EE1803556F}" type="presParOf" srcId="{1026A79B-2741-413F-8DA0-A9A267D9E0F0}" destId="{C19F7659-81F7-4AD0-99B1-22DB11A9EC9C}" srcOrd="0" destOrd="0" presId="urn:microsoft.com/office/officeart/2005/8/layout/hierarchy1"/>
    <dgm:cxn modelId="{04A320C7-5839-44AC-B585-EB7340BD2E84}" type="presParOf" srcId="{C19F7659-81F7-4AD0-99B1-22DB11A9EC9C}" destId="{CB70CFEC-F9BF-4052-9CD7-4049AE1B0CA4}" srcOrd="0" destOrd="0" presId="urn:microsoft.com/office/officeart/2005/8/layout/hierarchy1"/>
    <dgm:cxn modelId="{83EDE0F9-A868-437F-B90D-E533ECCDB637}" type="presParOf" srcId="{C19F7659-81F7-4AD0-99B1-22DB11A9EC9C}" destId="{5AD36D90-D4F2-493B-A4EA-5627ACD583D2}" srcOrd="1" destOrd="0" presId="urn:microsoft.com/office/officeart/2005/8/layout/hierarchy1"/>
    <dgm:cxn modelId="{09EADEB2-E185-49D7-A4E6-5CA9231FBBC1}" type="presParOf" srcId="{1026A79B-2741-413F-8DA0-A9A267D9E0F0}" destId="{FB8F9C6D-E6C4-48C4-94D0-463ED8ACDA18}" srcOrd="1" destOrd="0" presId="urn:microsoft.com/office/officeart/2005/8/layout/hierarchy1"/>
    <dgm:cxn modelId="{5BF59A74-7C83-4572-B14F-D16C3CF541AF}" type="presParOf" srcId="{1C8F06C3-25BE-4693-8856-29509F1EB7FB}" destId="{D226951F-A415-45D4-B587-1E9AF7563D65}" srcOrd="2" destOrd="0" presId="urn:microsoft.com/office/officeart/2005/8/layout/hierarchy1"/>
    <dgm:cxn modelId="{8FC58E24-ADE0-4FD9-A8FF-46A3F04DD135}" type="presParOf" srcId="{D226951F-A415-45D4-B587-1E9AF7563D65}" destId="{F53B887C-56C1-4BAE-9CF3-34C53DBCDFD5}" srcOrd="0" destOrd="0" presId="urn:microsoft.com/office/officeart/2005/8/layout/hierarchy1"/>
    <dgm:cxn modelId="{D4D5FB5E-6731-424B-A9ED-81A0F3AF6446}" type="presParOf" srcId="{F53B887C-56C1-4BAE-9CF3-34C53DBCDFD5}" destId="{9E098A09-6E65-4956-A53A-10B58731E444}" srcOrd="0" destOrd="0" presId="urn:microsoft.com/office/officeart/2005/8/layout/hierarchy1"/>
    <dgm:cxn modelId="{F7EE0A8F-DF6E-467F-B81E-882F62933540}" type="presParOf" srcId="{F53B887C-56C1-4BAE-9CF3-34C53DBCDFD5}" destId="{BC030AF5-F67D-4715-B3A8-D6E0B6CCEB04}" srcOrd="1" destOrd="0" presId="urn:microsoft.com/office/officeart/2005/8/layout/hierarchy1"/>
    <dgm:cxn modelId="{5D5E01F8-876E-4934-9E99-1DFB49E3DCFB}" type="presParOf" srcId="{D226951F-A415-45D4-B587-1E9AF7563D65}" destId="{B9920A3E-556F-4E4F-ABBF-887C2C5C96E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6943C6-7191-428C-A647-8D37BBED1FCC}">
      <dsp:nvSpPr>
        <dsp:cNvPr id="0" name=""/>
        <dsp:cNvSpPr/>
      </dsp:nvSpPr>
      <dsp:spPr>
        <a:xfrm>
          <a:off x="1111035" y="481"/>
          <a:ext cx="2252544" cy="14303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5CB568-06F6-4701-BD15-54F2C923A343}">
      <dsp:nvSpPr>
        <dsp:cNvPr id="0" name=""/>
        <dsp:cNvSpPr/>
      </dsp:nvSpPr>
      <dsp:spPr>
        <a:xfrm>
          <a:off x="1361318" y="238250"/>
          <a:ext cx="2252544" cy="14303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Dateien werden an Lora Gateway gesendet </a:t>
          </a:r>
          <a:endParaRPr lang="en-US" sz="1600" kern="1200"/>
        </a:p>
      </dsp:txBody>
      <dsp:txXfrm>
        <a:off x="1403212" y="280144"/>
        <a:ext cx="2168756" cy="1346578"/>
      </dsp:txXfrm>
    </dsp:sp>
    <dsp:sp modelId="{CB70CFEC-F9BF-4052-9CD7-4049AE1B0CA4}">
      <dsp:nvSpPr>
        <dsp:cNvPr id="0" name=""/>
        <dsp:cNvSpPr/>
      </dsp:nvSpPr>
      <dsp:spPr>
        <a:xfrm>
          <a:off x="3864146" y="481"/>
          <a:ext cx="2252544" cy="14303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D36D90-D4F2-493B-A4EA-5627ACD583D2}">
      <dsp:nvSpPr>
        <dsp:cNvPr id="0" name=""/>
        <dsp:cNvSpPr/>
      </dsp:nvSpPr>
      <dsp:spPr>
        <a:xfrm>
          <a:off x="4114428" y="238250"/>
          <a:ext cx="2252544" cy="14303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PC hört Gateway ab und nimmt sich die Daten</a:t>
          </a:r>
          <a:endParaRPr lang="en-US" sz="1600" kern="1200"/>
        </a:p>
      </dsp:txBody>
      <dsp:txXfrm>
        <a:off x="4156322" y="280144"/>
        <a:ext cx="2168756" cy="1346578"/>
      </dsp:txXfrm>
    </dsp:sp>
    <dsp:sp modelId="{9E098A09-6E65-4956-A53A-10B58731E444}">
      <dsp:nvSpPr>
        <dsp:cNvPr id="0" name=""/>
        <dsp:cNvSpPr/>
      </dsp:nvSpPr>
      <dsp:spPr>
        <a:xfrm>
          <a:off x="6617256" y="481"/>
          <a:ext cx="2252544" cy="14303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030AF5-F67D-4715-B3A8-D6E0B6CCEB04}">
      <dsp:nvSpPr>
        <dsp:cNvPr id="0" name=""/>
        <dsp:cNvSpPr/>
      </dsp:nvSpPr>
      <dsp:spPr>
        <a:xfrm>
          <a:off x="6867539" y="238250"/>
          <a:ext cx="2252544" cy="14303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PC parsed das Paket und schreibt es in die InfluxDB</a:t>
          </a:r>
          <a:endParaRPr lang="en-US" sz="1600" kern="1200"/>
        </a:p>
      </dsp:txBody>
      <dsp:txXfrm>
        <a:off x="6909433" y="280144"/>
        <a:ext cx="2168756" cy="13465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636FFA-EE9F-4D81-8346-7B32CEBD34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4828AF4-DEEC-4C5A-BCA3-0F8C5F2875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5371E0B-CD89-41C1-A0C0-2C9CDB468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6D8EF-A125-4F60-A5E3-5B1323FABAAA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C2B1F02-61AB-443C-AE8C-9C2DDBAE9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0AE203-9D18-4B99-99EE-39711D73A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CF626-20D9-4EE4-AEE3-C84250A3B6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6242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ACB747-30D4-46FA-B640-3C0021977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5284969-2AFA-49FC-8069-03C7BBFEC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B02F24-10FB-4214-A53A-FCFC13BF5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6D8EF-A125-4F60-A5E3-5B1323FABAAA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87D4AEB-3AD0-4D38-A9ED-8F569FC28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6944E1B-A928-4FC0-821A-12ED28580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CF626-20D9-4EE4-AEE3-C84250A3B6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6926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53064B-4339-4959-B4D4-259A9F27F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EFE9ED2-C4D8-441D-BB41-E8FB2A0A5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DF52341-A62E-4D6A-BEA3-0AB369457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6D8EF-A125-4F60-A5E3-5B1323FABAAA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730FAA9-0534-4309-BE5B-312FCA7F8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1C4410-5758-4F3A-86AD-B484DE74A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CF626-20D9-4EE4-AEE3-C84250A3B6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3366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EE4946-E70C-4FEF-AE61-84B24B1DC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E74D80-7468-45B6-B743-EB55650211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B716D05-BE14-4C3B-B7CD-6D725D919C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5886599-66D8-4775-84F7-A2AEECCFB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6D8EF-A125-4F60-A5E3-5B1323FABAAA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B68D3B3-B1D3-4F10-AD38-10AF80B56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A69280-ACBA-4310-94D9-D549D3EC6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CF626-20D9-4EE4-AEE3-C84250A3B6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1502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CFE5AF-5399-4CED-9ACD-1B713D863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85A3C67-29DB-4A18-AC45-3A3D4D117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4EBBDB7-8F8D-4327-9ACA-BD3C2BC18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E2A3780-FE50-4223-8E18-4F84DA9D96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695F190-3B7F-492B-8468-EA12346081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6D7C75D-FAE8-46AA-A47E-68A05DEA3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6D8EF-A125-4F60-A5E3-5B1323FABAAA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38D13AA-B256-4854-B4FF-E75053EF0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D9C80F1-0CD6-44EA-8D16-7AA51D300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CF626-20D9-4EE4-AEE3-C84250A3B6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6397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7DB5E8-B98F-4B8C-A9B6-D0B513604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28AD97F-C872-4D60-93D6-7F1D51EA3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6D8EF-A125-4F60-A5E3-5B1323FABAAA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0254FA0-443C-44C2-88D4-41F8A9A02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05E9CD3-EB4F-429A-AB7C-02D361BA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CF626-20D9-4EE4-AEE3-C84250A3B6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7018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EA433A5-EFDA-47AC-92AE-F6C3970C6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6D8EF-A125-4F60-A5E3-5B1323FABAAA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7130B44-0BBE-4AA1-91AD-9A293FDED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FE344C1-BEFF-4A04-841B-9D53C2C00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CF626-20D9-4EE4-AEE3-C84250A3B6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7099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4190CA-FC8E-47FD-89C5-A54EF89FB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FC3535-E233-415E-8C2F-5038FDCAD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5669B24-7115-4E88-B54E-F3D98E6295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6FBCED4-2ABF-4629-AAB3-EC87733EC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6D8EF-A125-4F60-A5E3-5B1323FABAAA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69BB855-F33C-41EA-84D4-ACCE577DB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A61124-200B-4482-B096-DCBA4A841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CF626-20D9-4EE4-AEE3-C84250A3B6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4682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1DF4C6-9B7F-4552-AB70-2CC92DBEB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706F79F-CDE7-456F-86B7-E694CCD498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07703D7-5F77-4543-AED3-C0E5EC4BA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7C73D1B-4CF0-48AC-8717-FCE8587F8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6D8EF-A125-4F60-A5E3-5B1323FABAAA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6CD926D-3368-440A-BFBB-382D009BA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F40F9F7-822B-472D-AE1F-F5B527CD4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CF626-20D9-4EE4-AEE3-C84250A3B6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2154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B9F97C-001B-4A32-B656-F7FC1AE19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3FDD79D-3D6A-4C29-9755-129C4128E1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FCB3A55-4226-42CF-A483-6E120773C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6D8EF-A125-4F60-A5E3-5B1323FABAAA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BC29FF-0440-4745-A8E2-8ED98929A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6969620-4ADC-477C-8B3C-3A2878D2E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CF626-20D9-4EE4-AEE3-C84250A3B6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8859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974C2A2-4D9D-4CC0-8381-26B6484C7B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1D8B5E9-3AAC-462D-A5B5-841BB767BD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7C79B67-AD07-4AC2-B211-DED844D11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6D8EF-A125-4F60-A5E3-5B1323FABAAA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1F24D3-6A40-4E4C-87EE-0B66B679C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99AC8A-56F8-4EDE-A59F-B6850D30E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CF626-20D9-4EE4-AEE3-C84250A3B6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750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0E4642C-B1FB-4A7C-AEF1-9E5673C40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4879335-350F-4493-BE4E-C8C15ED40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9F6B62-BC23-4F44-81BA-C8FBCFB19E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E6D8EF-A125-4F60-A5E3-5B1323FABAAA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7998DF-A927-4C1D-A03B-AFB18ED142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585BEE-06B0-4338-9D08-7469978C35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8CF626-20D9-4EE4-AEE3-C84250A3B6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2528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338B99F-AE1E-4481-A2E6-C790ACF14C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de-DE" sz="4000">
                <a:solidFill>
                  <a:schemeClr val="tx2"/>
                </a:solidFill>
              </a:rPr>
              <a:t>Smart Car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A92B9A8-5369-43A6-A3BD-5EB4B0B949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de-DE" sz="2000">
                <a:solidFill>
                  <a:schemeClr val="tx2"/>
                </a:solidFill>
              </a:rPr>
              <a:t>Baris Usluoglu, Daniel Shapiro, Steven Haupenthal</a:t>
            </a:r>
          </a:p>
        </p:txBody>
      </p:sp>
      <p:pic>
        <p:nvPicPr>
          <p:cNvPr id="7" name="Graphic 6" descr="Auto">
            <a:extLst>
              <a:ext uri="{FF2B5EF4-FFF2-40B4-BE49-F238E27FC236}">
                <a16:creationId xmlns:a16="http://schemas.microsoft.com/office/drawing/2014/main" id="{F0408700-6843-7E11-6330-75A4F7119D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8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37781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B3D8AD-043D-5F34-EA1D-51562B56E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8891F9B-4450-9809-E5ED-A833EF560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7758FD9-1F71-EEBA-EFE9-23960AA89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de-DE" sz="6600" dirty="0"/>
              <a:t>Inhalt</a:t>
            </a:r>
            <a:endParaRPr lang="en-US" sz="6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AD2E8A8-26EB-D627-2A44-58C6377B7C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CB46321-EAEC-E53D-76C2-041163B99EEE}"/>
              </a:ext>
            </a:extLst>
          </p:cNvPr>
          <p:cNvSpPr txBox="1"/>
          <p:nvPr/>
        </p:nvSpPr>
        <p:spPr>
          <a:xfrm>
            <a:off x="957130" y="2369659"/>
            <a:ext cx="836633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/>
              <a:t>Rückblick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/>
              <a:t>Hardware Ansatz vs. Jetzt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/>
              <a:t>ESP Simulation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/>
              <a:t>Backend und </a:t>
            </a:r>
            <a:r>
              <a:rPr lang="de-DE" sz="2400" dirty="0" err="1"/>
              <a:t>Dataflows</a:t>
            </a:r>
            <a:endParaRPr lang="de-DE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 err="1"/>
              <a:t>Grafana</a:t>
            </a:r>
            <a:r>
              <a:rPr lang="de-DE" sz="2400" dirty="0"/>
              <a:t> Dashboards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/>
              <a:t>Routinen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/>
              <a:t>Unsere Hürden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/>
              <a:t>Aufgabenverteilung und Arbeitszeiten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/>
              <a:t>Fazit und Ausblick</a:t>
            </a:r>
          </a:p>
          <a:p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4174099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63BE0E2-8A91-480B-AB01-EB87FAFB5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Rückblick</a:t>
            </a:r>
          </a:p>
        </p:txBody>
      </p:sp>
      <p:sp>
        <p:nvSpPr>
          <p:cNvPr id="4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0EB263C-CA6B-49AA-8AF6-57ED75EA4CF6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143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1. </a:t>
            </a:r>
            <a:r>
              <a:rPr lang="en-US" sz="1500" b="1"/>
              <a:t>Daten auslesen</a:t>
            </a:r>
          </a:p>
          <a:p>
            <a:pPr marL="8572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Teilweise erreicht / Fokus-Shift</a:t>
            </a:r>
          </a:p>
          <a:p>
            <a:pPr marL="5715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/>
          </a:p>
          <a:p>
            <a:pPr marL="1143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2. </a:t>
            </a:r>
            <a:r>
              <a:rPr lang="en-US" sz="1500" b="1"/>
              <a:t>Daten senden</a:t>
            </a:r>
          </a:p>
          <a:p>
            <a:pPr marL="8572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Überwiegend erreicht</a:t>
            </a:r>
          </a:p>
          <a:p>
            <a:pPr marL="5715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/>
          </a:p>
          <a:p>
            <a:pPr marL="1143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3. </a:t>
            </a:r>
            <a:r>
              <a:rPr lang="en-US" sz="1500" b="1"/>
              <a:t>Daten auswerten</a:t>
            </a:r>
          </a:p>
          <a:p>
            <a:pPr marL="8572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Vollständig erreicht</a:t>
            </a:r>
          </a:p>
          <a:p>
            <a:pPr marL="5715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/>
          </a:p>
          <a:p>
            <a:pPr marL="1143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4. </a:t>
            </a:r>
            <a:r>
              <a:rPr lang="en-US" sz="1500" b="1"/>
              <a:t>Automatisierte Routinen</a:t>
            </a:r>
          </a:p>
          <a:p>
            <a:pPr marL="8572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Überwiegend erreicht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D04E3EEF-6E7C-4F29-88B5-6A583DC64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1992" y="640080"/>
            <a:ext cx="4448328" cy="557784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A03F770A-2290-4940-86DB-F86E03C46DD6}"/>
              </a:ext>
            </a:extLst>
          </p:cNvPr>
          <p:cNvSpPr txBox="1"/>
          <p:nvPr/>
        </p:nvSpPr>
        <p:spPr>
          <a:xfrm>
            <a:off x="3048000" y="32467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de-DE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FCE5BDF-B2E6-4D20-992F-2696B9C32A86}"/>
              </a:ext>
            </a:extLst>
          </p:cNvPr>
          <p:cNvSpPr txBox="1"/>
          <p:nvPr/>
        </p:nvSpPr>
        <p:spPr>
          <a:xfrm>
            <a:off x="3048000" y="32467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de-DE"/>
              <a:t> 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AC3F0DF-DEF8-4967-B64B-ED809D13E47D}"/>
              </a:ext>
            </a:extLst>
          </p:cNvPr>
          <p:cNvSpPr txBox="1"/>
          <p:nvPr/>
        </p:nvSpPr>
        <p:spPr>
          <a:xfrm>
            <a:off x="3048000" y="32467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de-DE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A49F113-E54C-4FA7-985A-339995FFA625}"/>
              </a:ext>
            </a:extLst>
          </p:cNvPr>
          <p:cNvSpPr txBox="1"/>
          <p:nvPr/>
        </p:nvSpPr>
        <p:spPr>
          <a:xfrm>
            <a:off x="3048000" y="32467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de-DE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2819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F17BF94-FCD4-42C6-A39A-DE103E25A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Hardware Ansatz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 descr="Ein Bild, das Text, Screenshot, Schrift, Grafiken enthält.&#10;&#10;KI-generierte Inhalte können fehlerhaft sein.">
            <a:extLst>
              <a:ext uri="{FF2B5EF4-FFF2-40B4-BE49-F238E27FC236}">
                <a16:creationId xmlns:a16="http://schemas.microsoft.com/office/drawing/2014/main" id="{C4745B3E-FEE1-E2DB-D993-E89392A037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5" r="8388" b="-419"/>
          <a:stretch>
            <a:fillRect/>
          </a:stretch>
        </p:blipFill>
        <p:spPr>
          <a:xfrm>
            <a:off x="2078139" y="2202776"/>
            <a:ext cx="8032674" cy="358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724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D14183-B605-B1ED-FD6B-404D0CADF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9D5A747-37C1-7CBA-18FA-C1C32DBC6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A5FC824-E15C-9DD8-B114-67711657B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kern="1200" dirty="0">
                <a:latin typeface="+mj-lt"/>
                <a:ea typeface="+mj-ea"/>
                <a:cs typeface="+mj-cs"/>
              </a:rPr>
              <a:t>Hardware </a:t>
            </a:r>
            <a:r>
              <a:rPr lang="en-US" sz="6600" b="1" dirty="0" err="1"/>
              <a:t>jetzt</a:t>
            </a:r>
            <a:endParaRPr lang="en-US" sz="6600" b="1" kern="1200" dirty="0" err="1">
              <a:latin typeface="+mj-lt"/>
              <a:ea typeface="+mj-ea"/>
              <a:cs typeface="+mj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3877E6C-AC8F-204F-EABD-A669D4584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fik 2" descr="Ein Bild, das Text, Screenshot, Schrift, Grafiken enthält.&#10;&#10;KI-generierte Inhalte können fehlerhaft sein.">
            <a:extLst>
              <a:ext uri="{FF2B5EF4-FFF2-40B4-BE49-F238E27FC236}">
                <a16:creationId xmlns:a16="http://schemas.microsoft.com/office/drawing/2014/main" id="{F8696E8A-35F4-8C19-D801-FBA52654F1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081" t="10660" r="-404" b="-11168"/>
          <a:stretch>
            <a:fillRect/>
          </a:stretch>
        </p:blipFill>
        <p:spPr>
          <a:xfrm>
            <a:off x="3254872" y="2115398"/>
            <a:ext cx="8460205" cy="4699223"/>
          </a:xfrm>
          <a:prstGeom prst="rect">
            <a:avLst/>
          </a:prstGeom>
        </p:spPr>
      </p:pic>
      <p:sp>
        <p:nvSpPr>
          <p:cNvPr id="4" name="Textfeld 8">
            <a:extLst>
              <a:ext uri="{FF2B5EF4-FFF2-40B4-BE49-F238E27FC236}">
                <a16:creationId xmlns:a16="http://schemas.microsoft.com/office/drawing/2014/main" id="{1AEE1B2B-A27F-002E-19E1-546853E6B049}"/>
              </a:ext>
            </a:extLst>
          </p:cNvPr>
          <p:cNvSpPr txBox="1"/>
          <p:nvPr/>
        </p:nvSpPr>
        <p:spPr>
          <a:xfrm>
            <a:off x="1102490" y="3577216"/>
            <a:ext cx="2334644" cy="1077218"/>
          </a:xfrm>
          <a:prstGeom prst="rect">
            <a:avLst/>
          </a:prstGeom>
          <a:solidFill>
            <a:srgbClr val="CD6AFB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3200" dirty="0">
                <a:solidFill>
                  <a:schemeClr val="bg1"/>
                </a:solidFill>
                <a:ea typeface="Calibri"/>
                <a:cs typeface="Calibri"/>
              </a:rPr>
              <a:t>Simulierte Daten</a:t>
            </a:r>
          </a:p>
        </p:txBody>
      </p:sp>
      <p:sp>
        <p:nvSpPr>
          <p:cNvPr id="6" name="Textfeld 8">
            <a:extLst>
              <a:ext uri="{FF2B5EF4-FFF2-40B4-BE49-F238E27FC236}">
                <a16:creationId xmlns:a16="http://schemas.microsoft.com/office/drawing/2014/main" id="{A5DAE13A-E5BD-77AA-51F2-890590338CB2}"/>
              </a:ext>
            </a:extLst>
          </p:cNvPr>
          <p:cNvSpPr txBox="1"/>
          <p:nvPr/>
        </p:nvSpPr>
        <p:spPr>
          <a:xfrm>
            <a:off x="8837945" y="2784428"/>
            <a:ext cx="2334644" cy="1077218"/>
          </a:xfrm>
          <a:prstGeom prst="rect">
            <a:avLst/>
          </a:prstGeom>
          <a:solidFill>
            <a:srgbClr val="CD6AFB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3200" dirty="0">
                <a:solidFill>
                  <a:schemeClr val="bg1"/>
                </a:solidFill>
                <a:ea typeface="Calibri"/>
                <a:cs typeface="Calibri"/>
              </a:rPr>
              <a:t>Simulierte Daten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1772DE56-42EA-6A92-0CC5-554B4A3DFF4A}"/>
              </a:ext>
            </a:extLst>
          </p:cNvPr>
          <p:cNvCxnSpPr/>
          <p:nvPr/>
        </p:nvCxnSpPr>
        <p:spPr>
          <a:xfrm flipH="1">
            <a:off x="10007730" y="3863544"/>
            <a:ext cx="4773" cy="12238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5288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4A69EF-9ABB-8AD4-7DC8-3E4AB843A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A1E536D-EABA-C8B7-975C-1246CD183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13E7DB1-B826-CA7E-5C49-AC8EC7BBC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/>
              <a:t>ESP Simulation</a:t>
            </a:r>
            <a:endParaRPr lang="de-DE" dirty="0">
              <a:ea typeface="+mj-ea"/>
              <a:cs typeface="+mj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E7E767D-ECAC-3B7D-CB99-6C6F726C2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57E915D9-36A6-FC0E-D82E-621CE117CC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3714770"/>
              </p:ext>
            </p:extLst>
          </p:nvPr>
        </p:nvGraphicFramePr>
        <p:xfrm>
          <a:off x="545658" y="2163550"/>
          <a:ext cx="3967906" cy="3992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7906">
                  <a:extLst>
                    <a:ext uri="{9D8B030D-6E8A-4147-A177-3AD203B41FA5}">
                      <a16:colId xmlns:a16="http://schemas.microsoft.com/office/drawing/2014/main" val="4105556601"/>
                    </a:ext>
                  </a:extLst>
                </a:gridCol>
              </a:tblGrid>
              <a:tr h="792346">
                <a:tc>
                  <a:txBody>
                    <a:bodyPr/>
                    <a:lstStyle/>
                    <a:p>
                      <a:pPr algn="ctr"/>
                      <a:r>
                        <a:rPr lang="de-DE" sz="4000" dirty="0"/>
                        <a:t>Lora Übertragung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752471"/>
                  </a:ext>
                </a:extLst>
              </a:tr>
              <a:tr h="792346">
                <a:tc>
                  <a:txBody>
                    <a:bodyPr/>
                    <a:lstStyle/>
                    <a:p>
                      <a:pPr algn="ctr"/>
                      <a:r>
                        <a:rPr lang="de-DE" sz="2400" dirty="0"/>
                        <a:t>Fahrzeugstatus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869633"/>
                  </a:ext>
                </a:extLst>
              </a:tr>
              <a:tr h="79234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400" dirty="0"/>
                        <a:t>Tankfüllstand &amp; Batteriespannung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924243"/>
                  </a:ext>
                </a:extLst>
              </a:tr>
              <a:tr h="792346">
                <a:tc>
                  <a:txBody>
                    <a:bodyPr/>
                    <a:lstStyle/>
                    <a:p>
                      <a:pPr algn="ctr"/>
                      <a:r>
                        <a:rPr lang="de-DE" sz="2400" dirty="0"/>
                        <a:t>Error Codes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468214"/>
                  </a:ext>
                </a:extLst>
              </a:tr>
              <a:tr h="79234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dirty="0"/>
                        <a:t>256Bytes max. Data Size</a:t>
                      </a:r>
                      <a:br>
                        <a:rPr lang="de-DE" dirty="0"/>
                      </a:br>
                      <a:r>
                        <a:rPr lang="de-DE" dirty="0"/>
                        <a:t>36Sekunden/Stunde Sendeberechtigung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936078"/>
                  </a:ext>
                </a:extLst>
              </a:tr>
            </a:tbl>
          </a:graphicData>
        </a:graphic>
      </p:graphicFrame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E3F69D84-523A-633D-1FDA-94FB92E51B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560705"/>
              </p:ext>
            </p:extLst>
          </p:nvPr>
        </p:nvGraphicFramePr>
        <p:xfrm>
          <a:off x="7577592" y="2163550"/>
          <a:ext cx="3967906" cy="3992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7906">
                  <a:extLst>
                    <a:ext uri="{9D8B030D-6E8A-4147-A177-3AD203B41FA5}">
                      <a16:colId xmlns:a16="http://schemas.microsoft.com/office/drawing/2014/main" val="4105556601"/>
                    </a:ext>
                  </a:extLst>
                </a:gridCol>
              </a:tblGrid>
              <a:tr h="792346">
                <a:tc>
                  <a:txBody>
                    <a:bodyPr/>
                    <a:lstStyle/>
                    <a:p>
                      <a:pPr algn="ctr"/>
                      <a:r>
                        <a:rPr lang="de-DE" sz="3600" dirty="0" err="1"/>
                        <a:t>Wlan</a:t>
                      </a:r>
                      <a:r>
                        <a:rPr lang="de-DE" sz="3600" dirty="0"/>
                        <a:t> Übertragung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752471"/>
                  </a:ext>
                </a:extLst>
              </a:tr>
              <a:tr h="792346">
                <a:tc>
                  <a:txBody>
                    <a:bodyPr/>
                    <a:lstStyle/>
                    <a:p>
                      <a:pPr algn="ctr"/>
                      <a:r>
                        <a:rPr lang="de-DE" sz="2400" dirty="0"/>
                        <a:t>Fahrzeugstatus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869633"/>
                  </a:ext>
                </a:extLst>
              </a:tr>
              <a:tr h="792346">
                <a:tc>
                  <a:txBody>
                    <a:bodyPr/>
                    <a:lstStyle/>
                    <a:p>
                      <a:pPr algn="ctr"/>
                      <a:r>
                        <a:rPr lang="de-DE" sz="2400" dirty="0"/>
                        <a:t>Tankfüllstand &amp; Batteriespannung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924243"/>
                  </a:ext>
                </a:extLst>
              </a:tr>
              <a:tr h="792346">
                <a:tc>
                  <a:txBody>
                    <a:bodyPr/>
                    <a:lstStyle/>
                    <a:p>
                      <a:pPr algn="ctr"/>
                      <a:r>
                        <a:rPr lang="de-DE" sz="2400" dirty="0"/>
                        <a:t>Error Codes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468214"/>
                  </a:ext>
                </a:extLst>
              </a:tr>
              <a:tr h="792346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Beliebig große Dateien</a:t>
                      </a:r>
                    </a:p>
                    <a:p>
                      <a:pPr lvl="0" algn="ctr">
                        <a:buNone/>
                      </a:pPr>
                      <a:r>
                        <a:rPr lang="de-DE" dirty="0"/>
                        <a:t>Solange in Reichweite immer möglich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936078"/>
                  </a:ext>
                </a:extLst>
              </a:tr>
            </a:tbl>
          </a:graphicData>
        </a:graphic>
      </p:graphicFrame>
      <p:pic>
        <p:nvPicPr>
          <p:cNvPr id="6" name="Grafik 5" descr="Ein Bild, das Fahrzeug, Landfahrzeug, Auto, Rad enthält.&#10;&#10;KI-generierte Inhalte können fehlerhaft sein.">
            <a:extLst>
              <a:ext uri="{FF2B5EF4-FFF2-40B4-BE49-F238E27FC236}">
                <a16:creationId xmlns:a16="http://schemas.microsoft.com/office/drawing/2014/main" id="{A7140374-C592-E88C-BC1B-29B0BBC6C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75" y="-356153"/>
            <a:ext cx="1889455" cy="2517914"/>
          </a:xfrm>
          <a:prstGeom prst="rect">
            <a:avLst/>
          </a:prstGeom>
        </p:spPr>
      </p:pic>
      <p:pic>
        <p:nvPicPr>
          <p:cNvPr id="8" name="Grafik 7" descr="Ein Bild, das Landfahrzeug, Fahrzeug, Rad, Transport enthält.&#10;&#10;KI-generierte Inhalte können fehlerhaft sein.">
            <a:extLst>
              <a:ext uri="{FF2B5EF4-FFF2-40B4-BE49-F238E27FC236}">
                <a16:creationId xmlns:a16="http://schemas.microsoft.com/office/drawing/2014/main" id="{5CD04D0D-3C93-3C6B-1C1E-1F64FB56C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38" y="248477"/>
            <a:ext cx="2889559" cy="1913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331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E17903-4542-BAE0-E0F3-1B74B1B53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18BEC9-2EDA-785E-2A0C-B88B3A513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/>
              <a:t>Backend und Dataflows</a:t>
            </a:r>
            <a:endParaRPr lang="de-DE" dirty="0" err="1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BC72451-5B54-D0B2-F0BC-F8A01E75CF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fik 7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CF619AF8-7D37-187B-8F9B-98212A8A9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61" y="4567444"/>
            <a:ext cx="11032434" cy="2030067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97F3DD77-7286-D73C-581D-023E59EF86AF}"/>
              </a:ext>
            </a:extLst>
          </p:cNvPr>
          <p:cNvSpPr txBox="1"/>
          <p:nvPr/>
        </p:nvSpPr>
        <p:spPr>
          <a:xfrm>
            <a:off x="637465" y="1746997"/>
            <a:ext cx="10581577" cy="28212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de-DE" sz="2800" dirty="0">
                <a:ea typeface="Calibri"/>
                <a:cs typeface="Calibri"/>
              </a:rPr>
              <a:t>CSV Dateien:</a:t>
            </a:r>
            <a:endParaRPr lang="de-DE" dirty="0"/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de-DE" sz="2800" dirty="0">
              <a:ea typeface="Calibri"/>
              <a:cs typeface="Calibri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de-DE" sz="2800" dirty="0">
                <a:ea typeface="Calibri"/>
                <a:cs typeface="Calibri"/>
              </a:rPr>
              <a:t>Datei wird an PC gesendet (WLAN)</a:t>
            </a:r>
            <a:endParaRPr lang="en-US" sz="2800" dirty="0">
              <a:ea typeface="Calibri"/>
              <a:cs typeface="Calibri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de-DE" sz="2800" dirty="0">
                <a:ea typeface="Calibri"/>
                <a:cs typeface="Calibri"/>
              </a:rPr>
              <a:t>PC sendet Datei an </a:t>
            </a:r>
            <a:r>
              <a:rPr lang="de-DE" sz="2800" dirty="0" err="1">
                <a:ea typeface="Calibri"/>
                <a:cs typeface="Calibri"/>
              </a:rPr>
              <a:t>Mosquitto</a:t>
            </a:r>
            <a:r>
              <a:rPr lang="de-DE" sz="2800" dirty="0">
                <a:ea typeface="Calibri"/>
                <a:cs typeface="Calibri"/>
              </a:rPr>
              <a:t> Broker</a:t>
            </a:r>
            <a:endParaRPr lang="en-US" sz="2800" dirty="0">
              <a:ea typeface="Calibri"/>
              <a:cs typeface="Calibri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de-DE" sz="2800" dirty="0">
                <a:ea typeface="Calibri"/>
                <a:cs typeface="Calibri"/>
              </a:rPr>
              <a:t>Node-</a:t>
            </a:r>
            <a:r>
              <a:rPr lang="de-DE" sz="2800" dirty="0" err="1">
                <a:ea typeface="Calibri"/>
                <a:cs typeface="Calibri"/>
              </a:rPr>
              <a:t>Red</a:t>
            </a:r>
            <a:r>
              <a:rPr lang="de-DE" sz="2800" dirty="0">
                <a:ea typeface="Calibri"/>
                <a:cs typeface="Calibri"/>
              </a:rPr>
              <a:t> </a:t>
            </a:r>
            <a:r>
              <a:rPr lang="de-DE" sz="2800" dirty="0" err="1">
                <a:ea typeface="Calibri"/>
                <a:cs typeface="Calibri"/>
              </a:rPr>
              <a:t>parsed</a:t>
            </a:r>
            <a:r>
              <a:rPr lang="de-DE" sz="2800" dirty="0">
                <a:ea typeface="Calibri"/>
                <a:cs typeface="Calibri"/>
              </a:rPr>
              <a:t> Datei in </a:t>
            </a:r>
            <a:r>
              <a:rPr lang="de-DE" sz="2800" dirty="0" err="1">
                <a:ea typeface="Calibri"/>
                <a:cs typeface="Calibri"/>
              </a:rPr>
              <a:t>influx</a:t>
            </a:r>
            <a:r>
              <a:rPr lang="de-DE" sz="2800" dirty="0">
                <a:ea typeface="Calibri"/>
                <a:cs typeface="Calibri"/>
              </a:rPr>
              <a:t> </a:t>
            </a:r>
            <a:r>
              <a:rPr lang="de-DE" sz="2800" dirty="0" err="1">
                <a:ea typeface="Calibri"/>
                <a:cs typeface="Calibri"/>
              </a:rPr>
              <a:t>commands</a:t>
            </a:r>
            <a:r>
              <a:rPr lang="de-DE" sz="2800" dirty="0">
                <a:ea typeface="Calibri"/>
                <a:cs typeface="Calibri"/>
              </a:rPr>
              <a:t> --&gt; speichern der Daten</a:t>
            </a:r>
            <a:endParaRPr lang="en-US" sz="2800" dirty="0">
              <a:ea typeface="Calibri"/>
              <a:cs typeface="Calibri"/>
            </a:endParaRPr>
          </a:p>
          <a:p>
            <a:pPr algn="l"/>
            <a:endParaRPr lang="de-DE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96352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08124D-9818-BABD-834A-D4E2D0650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0E64BC-64D1-A1E3-C116-DC6AF2534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/>
              <a:t>Backend und Dataflows</a:t>
            </a:r>
            <a:endParaRPr lang="de-DE" dirty="0" err="1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9DCDE08-697E-A081-C16B-BA1CD0A2C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Inhaltsplatzhalter 2">
            <a:extLst>
              <a:ext uri="{FF2B5EF4-FFF2-40B4-BE49-F238E27FC236}">
                <a16:creationId xmlns:a16="http://schemas.microsoft.com/office/drawing/2014/main" id="{4D156819-97F7-0A5A-E70A-1A6A7A862D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959060"/>
              </p:ext>
            </p:extLst>
          </p:nvPr>
        </p:nvGraphicFramePr>
        <p:xfrm>
          <a:off x="638789" y="2866509"/>
          <a:ext cx="10231120" cy="16690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1" name="Textfeld 4">
            <a:extLst>
              <a:ext uri="{FF2B5EF4-FFF2-40B4-BE49-F238E27FC236}">
                <a16:creationId xmlns:a16="http://schemas.microsoft.com/office/drawing/2014/main" id="{2BCF02F0-764F-E5E5-2C8F-87C04A3F9626}"/>
              </a:ext>
            </a:extLst>
          </p:cNvPr>
          <p:cNvSpPr txBox="1"/>
          <p:nvPr/>
        </p:nvSpPr>
        <p:spPr>
          <a:xfrm>
            <a:off x="983366" y="1947275"/>
            <a:ext cx="324104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800">
                <a:ea typeface="Calibri"/>
                <a:cs typeface="Calibri"/>
              </a:rPr>
              <a:t>Einzelne Dateien:</a:t>
            </a:r>
          </a:p>
        </p:txBody>
      </p:sp>
    </p:spTree>
    <p:extLst>
      <p:ext uri="{BB962C8B-B14F-4D97-AF65-F5344CB8AC3E}">
        <p14:creationId xmlns:p14="http://schemas.microsoft.com/office/powerpoint/2010/main" val="4261331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4CEE99-BF6D-FBD4-954B-EE679C4E2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EF4B3C-D3A1-9D0D-1965-2B64B2634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/>
              <a:t>Grafana Dashboards</a:t>
            </a:r>
            <a:endParaRPr lang="de-DE" dirty="0">
              <a:ea typeface="Calibri Light"/>
              <a:cs typeface="Calibri Light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9D18FC4-A0B1-525E-7BE4-27529B73E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9ADF1976-546C-CE97-62C6-48D75A0DF571}"/>
              </a:ext>
            </a:extLst>
          </p:cNvPr>
          <p:cNvSpPr txBox="1"/>
          <p:nvPr/>
        </p:nvSpPr>
        <p:spPr>
          <a:xfrm>
            <a:off x="837643" y="1824871"/>
            <a:ext cx="6057725" cy="3570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2400" b="1" dirty="0">
                <a:ea typeface="Calibri"/>
                <a:cs typeface="Calibri"/>
              </a:rPr>
              <a:t>Flottenübersicht zeigt an:</a:t>
            </a:r>
          </a:p>
          <a:p>
            <a:r>
              <a:rPr lang="de-DE" sz="2000" b="1">
                <a:ea typeface="Calibri"/>
                <a:cs typeface="Calibri"/>
              </a:rPr>
              <a:t>Übersicht:</a:t>
            </a:r>
          </a:p>
          <a:p>
            <a:pPr marL="285750" indent="-285750">
              <a:buFont typeface="Arial"/>
              <a:buChar char="•"/>
            </a:pPr>
            <a:r>
              <a:rPr lang="de-DE">
                <a:ea typeface="Calibri"/>
                <a:cs typeface="Calibri"/>
              </a:rPr>
              <a:t>Anzahl aktiver Fahrzeuge</a:t>
            </a:r>
          </a:p>
          <a:p>
            <a:pPr marL="285750" indent="-285750">
              <a:buFont typeface="Arial"/>
              <a:buChar char="•"/>
            </a:pPr>
            <a:r>
              <a:rPr lang="de-DE">
                <a:ea typeface="Calibri"/>
                <a:cs typeface="Calibri"/>
              </a:rPr>
              <a:t>Anzahl Aktiver Fehler</a:t>
            </a:r>
          </a:p>
          <a:p>
            <a:pPr marL="285750" indent="-285750">
              <a:buFont typeface="Arial"/>
              <a:buChar char="•"/>
            </a:pPr>
            <a:r>
              <a:rPr lang="de-DE" dirty="0">
                <a:ea typeface="Calibri"/>
                <a:cs typeface="Calibri"/>
              </a:rPr>
              <a:t>Anzahl Fahrten der Letzten 7 Tage</a:t>
            </a:r>
          </a:p>
          <a:p>
            <a:pPr marL="285750" indent="-285750">
              <a:buFont typeface="Arial"/>
              <a:buChar char="•"/>
            </a:pPr>
            <a:r>
              <a:rPr lang="de-DE">
                <a:ea typeface="Calibri"/>
                <a:cs typeface="Calibri"/>
              </a:rPr>
              <a:t>Anzahl Fehler der Letzten 7 Tage</a:t>
            </a:r>
          </a:p>
          <a:p>
            <a:pPr marL="285750" indent="-285750">
              <a:buFont typeface="Arial"/>
              <a:buChar char="•"/>
            </a:pPr>
            <a:endParaRPr lang="de-DE" dirty="0">
              <a:ea typeface="Calibri"/>
              <a:cs typeface="Calibri"/>
            </a:endParaRPr>
          </a:p>
          <a:p>
            <a:r>
              <a:rPr lang="de-DE" sz="2000" b="1">
                <a:ea typeface="Calibri"/>
                <a:cs typeface="Calibri"/>
              </a:rPr>
              <a:t>Flottenstatus:</a:t>
            </a:r>
          </a:p>
          <a:p>
            <a:pPr marL="285750" indent="-285750">
              <a:buFont typeface="Arial"/>
              <a:buChar char="•"/>
            </a:pPr>
            <a:r>
              <a:rPr lang="de-DE" dirty="0">
                <a:ea typeface="Calibri"/>
                <a:cs typeface="Calibri"/>
              </a:rPr>
              <a:t>Gesamtstatus der Flotte </a:t>
            </a:r>
            <a:r>
              <a:rPr lang="de-DE">
                <a:ea typeface="Calibri"/>
                <a:cs typeface="Calibri"/>
              </a:rPr>
              <a:t>basierend</a:t>
            </a:r>
            <a:r>
              <a:rPr lang="de-DE" dirty="0">
                <a:ea typeface="Calibri"/>
                <a:cs typeface="Calibri"/>
              </a:rPr>
              <a:t> auf kritischen Werten</a:t>
            </a:r>
          </a:p>
          <a:p>
            <a:pPr marL="285750" indent="-285750">
              <a:buFont typeface="Arial"/>
              <a:buChar char="•"/>
            </a:pPr>
            <a:r>
              <a:rPr lang="de-DE">
                <a:ea typeface="Calibri"/>
                <a:cs typeface="Calibri"/>
              </a:rPr>
              <a:t>Anzahl Fahrzeuge mit niedrigem Kraftstoff</a:t>
            </a:r>
          </a:p>
          <a:p>
            <a:pPr marL="285750" indent="-285750">
              <a:buFont typeface="Arial"/>
              <a:buChar char="•"/>
            </a:pPr>
            <a:r>
              <a:rPr lang="de-DE">
                <a:ea typeface="Calibri"/>
                <a:cs typeface="Calibri"/>
              </a:rPr>
              <a:t>Anzahl Fahrzeuge mit niedriger Batterie</a:t>
            </a:r>
          </a:p>
          <a:p>
            <a:pPr marL="285750" indent="-285750">
              <a:buFont typeface="Arial"/>
              <a:buChar char="•"/>
            </a:pPr>
            <a:r>
              <a:rPr lang="de-DE" dirty="0">
                <a:ea typeface="Calibri"/>
                <a:cs typeface="Calibri"/>
              </a:rPr>
              <a:t>Anzahl aktiver </a:t>
            </a:r>
            <a:r>
              <a:rPr lang="de-DE" dirty="0" err="1">
                <a:ea typeface="Calibri"/>
                <a:cs typeface="Calibri"/>
              </a:rPr>
              <a:t>Kontrolleuchten</a:t>
            </a:r>
            <a:r>
              <a:rPr lang="de-DE" dirty="0">
                <a:ea typeface="Calibri"/>
                <a:cs typeface="Calibri"/>
              </a:rPr>
              <a:t>-Warnungen</a:t>
            </a:r>
          </a:p>
        </p:txBody>
      </p:sp>
      <p:sp>
        <p:nvSpPr>
          <p:cNvPr id="45" name="Inhaltsplatzhalter 44">
            <a:extLst>
              <a:ext uri="{FF2B5EF4-FFF2-40B4-BE49-F238E27FC236}">
                <a16:creationId xmlns:a16="http://schemas.microsoft.com/office/drawing/2014/main" id="{81EA2A7B-BAFE-E86E-645D-4CF7331BB8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08183" y="1903117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DE" sz="2400" b="1" dirty="0">
                <a:ea typeface="Calibri" panose="020F0502020204030204"/>
                <a:cs typeface="Calibri" panose="020F0502020204030204"/>
              </a:rPr>
              <a:t>Fahrzeugdetail zeigt an:</a:t>
            </a:r>
          </a:p>
          <a:p>
            <a:pPr marL="0" indent="0">
              <a:buNone/>
            </a:pPr>
            <a:r>
              <a:rPr lang="de-DE" sz="2000" b="1" dirty="0">
                <a:ea typeface="Calibri" panose="020F0502020204030204"/>
                <a:cs typeface="Calibri" panose="020F0502020204030204"/>
              </a:rPr>
              <a:t>Übersicht:</a:t>
            </a:r>
          </a:p>
          <a:p>
            <a:r>
              <a:rPr lang="de-DE" sz="1800" dirty="0">
                <a:ea typeface="Calibri" panose="020F0502020204030204"/>
                <a:cs typeface="Calibri" panose="020F0502020204030204"/>
              </a:rPr>
              <a:t>Aktueller Kraftstoff des spezifischen Fahrzeugs</a:t>
            </a:r>
          </a:p>
          <a:p>
            <a:r>
              <a:rPr lang="de-DE" sz="1800" dirty="0">
                <a:ea typeface="Calibri" panose="020F0502020204030204"/>
                <a:cs typeface="Calibri" panose="020F0502020204030204"/>
              </a:rPr>
              <a:t>Aktuelle Spannung des spezifischen Fahrzeugs</a:t>
            </a:r>
          </a:p>
          <a:p>
            <a:r>
              <a:rPr lang="de-DE" sz="1800" dirty="0">
                <a:ea typeface="Calibri" panose="020F0502020204030204"/>
                <a:cs typeface="Calibri" panose="020F0502020204030204"/>
              </a:rPr>
              <a:t>Fahrten der Letzten 7 Tage</a:t>
            </a:r>
          </a:p>
          <a:p>
            <a:r>
              <a:rPr lang="de-DE" sz="1800" dirty="0">
                <a:ea typeface="Calibri" panose="020F0502020204030204"/>
                <a:cs typeface="Calibri" panose="020F0502020204030204"/>
              </a:rPr>
              <a:t>Temperatur im Gebiet des Autos</a:t>
            </a:r>
          </a:p>
          <a:p>
            <a:r>
              <a:rPr lang="de-DE" sz="1800" dirty="0">
                <a:ea typeface="Calibri" panose="020F0502020204030204"/>
                <a:cs typeface="Calibri" panose="020F0502020204030204"/>
              </a:rPr>
              <a:t>Kraftstoffverlauf</a:t>
            </a:r>
          </a:p>
          <a:p>
            <a:r>
              <a:rPr lang="de-DE" sz="1800" dirty="0">
                <a:ea typeface="Calibri" panose="020F0502020204030204"/>
                <a:cs typeface="Calibri" panose="020F0502020204030204"/>
              </a:rPr>
              <a:t>Spannungsverlauf</a:t>
            </a:r>
          </a:p>
          <a:p>
            <a:r>
              <a:rPr lang="de-DE" sz="1800" dirty="0">
                <a:ea typeface="Calibri" panose="020F0502020204030204"/>
                <a:cs typeface="Calibri" panose="020F0502020204030204"/>
              </a:rPr>
              <a:t>Fehler- Fahrtenhistorie</a:t>
            </a:r>
          </a:p>
        </p:txBody>
      </p:sp>
    </p:spTree>
    <p:extLst>
      <p:ext uri="{BB962C8B-B14F-4D97-AF65-F5344CB8AC3E}">
        <p14:creationId xmlns:p14="http://schemas.microsoft.com/office/powerpoint/2010/main" val="1047726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9F64C3-D9B8-7568-0E84-550DB5AE0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EC58A4-8566-89BB-75E0-32798724F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/>
              <a:t>Grafana Dashboard Flotte</a:t>
            </a:r>
            <a:endParaRPr lang="de-DE" dirty="0">
              <a:ea typeface="Calibri Light"/>
              <a:cs typeface="Calibri Light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569C513-41BC-AFF0-3E51-0F11F1AD1E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fik 2" descr="Ein Bild, das Text, Screenshot, Software enthält.&#10;&#10;KI-generierte Inhalte können fehlerhaft sein.">
            <a:extLst>
              <a:ext uri="{FF2B5EF4-FFF2-40B4-BE49-F238E27FC236}">
                <a16:creationId xmlns:a16="http://schemas.microsoft.com/office/drawing/2014/main" id="{F9854328-D1AE-8383-5073-F7A87D9F3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422" y="1855841"/>
            <a:ext cx="9103156" cy="470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514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61F24C-42F3-B304-8A6C-4D6B244FC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E4BDA6-8122-9C6D-232E-0EF1EA457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/>
              <a:t>Grafana Dashboard Detail</a:t>
            </a:r>
            <a:endParaRPr lang="de-DE" dirty="0">
              <a:ea typeface="Calibri Light"/>
              <a:cs typeface="Calibri Light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7D7189B-6E78-B346-1975-78B123BB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 descr="Ein Bild, das Text, Screenshot, Multimedia-Software, Software enthält.&#10;&#10;KI-generierte Inhalte können fehlerhaft sein.">
            <a:extLst>
              <a:ext uri="{FF2B5EF4-FFF2-40B4-BE49-F238E27FC236}">
                <a16:creationId xmlns:a16="http://schemas.microsoft.com/office/drawing/2014/main" id="{8FBC9C95-28F7-7954-E40D-C37FCC440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25" y="1977810"/>
            <a:ext cx="9658350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7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4E8BD3-86FA-9C26-AFEB-83E4CA2B0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B45EC3-EA22-077E-1742-907E8907C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/>
              <a:t>Email </a:t>
            </a:r>
            <a:r>
              <a:rPr lang="en-US" sz="6600" b="1" dirty="0" err="1"/>
              <a:t>Benachrichtigung</a:t>
            </a:r>
            <a:endParaRPr lang="de-DE" dirty="0">
              <a:ea typeface="Calibri Light"/>
              <a:cs typeface="Calibri Light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E49DD06F-446E-4BDD-7AA8-6469EC8C7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 descr="Ein Bild, das Text, Screenshot, Schrift, Software enthält.&#10;&#10;KI-generierte Inhalte können fehlerhaft sein.">
            <a:extLst>
              <a:ext uri="{FF2B5EF4-FFF2-40B4-BE49-F238E27FC236}">
                <a16:creationId xmlns:a16="http://schemas.microsoft.com/office/drawing/2014/main" id="{554E7551-9C15-E88F-5A76-956743D4E2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2187" y="1981707"/>
            <a:ext cx="3387626" cy="477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243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DBF057-FD29-C1AD-4183-3E0590A15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6FA91F-1679-DD83-481F-47414EE9A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/>
              <a:t>Kalender </a:t>
            </a:r>
            <a:r>
              <a:rPr lang="en-US" sz="6600" b="1" dirty="0" err="1"/>
              <a:t>Eintrag</a:t>
            </a:r>
            <a:endParaRPr lang="de-DE" dirty="0">
              <a:ea typeface="Calibri Light"/>
              <a:cs typeface="Calibri Light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F539C461-F9DA-D31F-E553-A1E7DEC39D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 descr="Ein Bild, das Text, Software, Computersymbol, Betriebssystem enthält.&#10;&#10;KI-generierte Inhalte können fehlerhaft sein.">
            <a:extLst>
              <a:ext uri="{FF2B5EF4-FFF2-40B4-BE49-F238E27FC236}">
                <a16:creationId xmlns:a16="http://schemas.microsoft.com/office/drawing/2014/main" id="{6AF0D029-5CCC-05A7-433D-DB9F7BCCEA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9073" y="2031530"/>
            <a:ext cx="8853854" cy="454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032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0197566-6CD7-46A9-8BDF-09B579F61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Routinen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2D060D-57F7-4117-8485-0919D104EC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26418" y="552091"/>
            <a:ext cx="6224335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200"/>
              <a:t>E-Mail Benachrichtigung:</a:t>
            </a:r>
          </a:p>
          <a:p>
            <a:pPr lvl="1"/>
            <a:r>
              <a:rPr lang="en-US" sz="2200"/>
              <a:t>Trigger bei Fehlern</a:t>
            </a:r>
          </a:p>
          <a:p>
            <a:pPr lvl="1"/>
            <a:r>
              <a:rPr lang="en-US" sz="2200"/>
              <a:t>E-Mail beinhaltet Fehler Code im Klartext</a:t>
            </a:r>
          </a:p>
          <a:p>
            <a:r>
              <a:rPr lang="en-US" sz="2200"/>
              <a:t>Kalender Einträge:</a:t>
            </a:r>
          </a:p>
          <a:p>
            <a:pPr lvl="1"/>
            <a:r>
              <a:rPr lang="en-US" sz="2200"/>
              <a:t>Trigger durch NodeRed</a:t>
            </a:r>
          </a:p>
          <a:p>
            <a:pPr lvl="1"/>
            <a:r>
              <a:rPr lang="en-US" sz="2200"/>
              <a:t>Einträge beinhalten:</a:t>
            </a:r>
          </a:p>
          <a:p>
            <a:pPr lvl="2"/>
            <a:r>
              <a:rPr lang="en-US" sz="2200"/>
              <a:t>Fahrzeug-ID</a:t>
            </a:r>
          </a:p>
          <a:p>
            <a:pPr lvl="2"/>
            <a:r>
              <a:rPr lang="en-US" sz="2200"/>
              <a:t>Priorität (Kritisch, Hoch, Medium, Gering)</a:t>
            </a:r>
          </a:p>
          <a:p>
            <a:pPr lvl="2"/>
            <a:r>
              <a:rPr lang="en-US" sz="2200"/>
              <a:t>Deadline (z.b. 1 Stunde)</a:t>
            </a:r>
          </a:p>
          <a:p>
            <a:pPr lvl="2"/>
            <a:r>
              <a:rPr lang="en-US" sz="2200"/>
              <a:t>Fehlerinfos (z.b Kraftstoff 5 Liter)</a:t>
            </a:r>
          </a:p>
        </p:txBody>
      </p:sp>
    </p:spTree>
    <p:extLst>
      <p:ext uri="{BB962C8B-B14F-4D97-AF65-F5344CB8AC3E}">
        <p14:creationId xmlns:p14="http://schemas.microsoft.com/office/powerpoint/2010/main" val="2652469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70C34A-F559-6CD5-FC43-1BC85486D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0B0A73-82F3-EAC3-EA83-EECE5D84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 err="1">
                <a:ea typeface="Calibri Light"/>
                <a:cs typeface="Calibri Light"/>
              </a:rPr>
              <a:t>Unsere</a:t>
            </a:r>
            <a:r>
              <a:rPr lang="en-US" sz="6600" b="1" dirty="0">
                <a:ea typeface="Calibri Light"/>
                <a:cs typeface="Calibri Light"/>
              </a:rPr>
              <a:t> </a:t>
            </a:r>
            <a:r>
              <a:rPr lang="en-US" sz="6600" b="1" dirty="0" err="1">
                <a:ea typeface="Calibri Light"/>
                <a:cs typeface="Calibri Light"/>
              </a:rPr>
              <a:t>Hürden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87E79CA-C8E3-43B8-AC87-643DC0249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Inhaltsplatzhalter 44">
            <a:extLst>
              <a:ext uri="{FF2B5EF4-FFF2-40B4-BE49-F238E27FC236}">
                <a16:creationId xmlns:a16="http://schemas.microsoft.com/office/drawing/2014/main" id="{A8B766E6-7E8A-B470-E842-74F9969840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5691" y="2058100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DE" sz="2400" b="1" dirty="0">
                <a:ea typeface="Calibri" panose="020F0502020204030204"/>
                <a:cs typeface="Calibri" panose="020F0502020204030204"/>
              </a:rPr>
              <a:t>Probleme:</a:t>
            </a:r>
            <a:endParaRPr lang="de-DE" dirty="0"/>
          </a:p>
          <a:p>
            <a:r>
              <a:rPr lang="de-DE" sz="1800" dirty="0">
                <a:ea typeface="Calibri" panose="020F0502020204030204"/>
                <a:cs typeface="Calibri" panose="020F0502020204030204"/>
              </a:rPr>
              <a:t>Kommunikation zwischen CAN und ESP</a:t>
            </a:r>
          </a:p>
          <a:p>
            <a:r>
              <a:rPr lang="de-DE" sz="1800" dirty="0">
                <a:ea typeface="Calibri" panose="020F0502020204030204"/>
                <a:cs typeface="Calibri" panose="020F0502020204030204"/>
              </a:rPr>
              <a:t>Projektaufwand sehr stark unterschätzt</a:t>
            </a:r>
          </a:p>
          <a:p>
            <a:r>
              <a:rPr lang="de-DE" sz="1800" dirty="0" err="1">
                <a:ea typeface="Calibri" panose="020F0502020204030204"/>
                <a:cs typeface="Calibri" panose="020F0502020204030204"/>
              </a:rPr>
              <a:t>Grafana</a:t>
            </a:r>
            <a:r>
              <a:rPr lang="de-DE" sz="1800" dirty="0">
                <a:ea typeface="Calibri" panose="020F0502020204030204"/>
                <a:cs typeface="Calibri" panose="020F0502020204030204"/>
              </a:rPr>
              <a:t> </a:t>
            </a:r>
          </a:p>
          <a:p>
            <a:r>
              <a:rPr lang="de-DE" sz="1800" dirty="0">
                <a:ea typeface="Calibri" panose="020F0502020204030204"/>
                <a:cs typeface="Calibri" panose="020F0502020204030204"/>
              </a:rPr>
              <a:t>Google Konto Sperrung </a:t>
            </a:r>
          </a:p>
          <a:p>
            <a:endParaRPr lang="de-DE" sz="1800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de-DE" sz="2400" b="1" dirty="0">
                <a:ea typeface="Calibri" panose="020F0502020204030204"/>
                <a:cs typeface="Calibri" panose="020F0502020204030204"/>
              </a:rPr>
              <a:t>Nicht umgesetzte Features:</a:t>
            </a:r>
          </a:p>
          <a:p>
            <a:r>
              <a:rPr lang="de-DE" sz="1800" dirty="0">
                <a:ea typeface="Calibri" panose="020F0502020204030204"/>
                <a:cs typeface="Calibri" panose="020F0502020204030204"/>
              </a:rPr>
              <a:t>Energieverwaltung</a:t>
            </a:r>
          </a:p>
          <a:p>
            <a:r>
              <a:rPr lang="de-DE" sz="1800" dirty="0">
                <a:ea typeface="Calibri" panose="020F0502020204030204"/>
                <a:cs typeface="Calibri" panose="020F0502020204030204"/>
              </a:rPr>
              <a:t>Fahrverhalten</a:t>
            </a:r>
          </a:p>
          <a:p>
            <a:r>
              <a:rPr lang="de-DE" sz="1800" dirty="0">
                <a:ea typeface="Calibri" panose="020F0502020204030204"/>
                <a:cs typeface="Calibri" panose="020F0502020204030204"/>
              </a:rPr>
              <a:t>Gyroskop Anbindung</a:t>
            </a:r>
          </a:p>
          <a:p>
            <a:r>
              <a:rPr lang="de-DE" sz="1800" dirty="0">
                <a:ea typeface="Calibri" panose="020F0502020204030204"/>
                <a:cs typeface="Calibri" panose="020F0502020204030204"/>
              </a:rPr>
              <a:t>Sicherheitsaspekte</a:t>
            </a:r>
          </a:p>
          <a:p>
            <a:endParaRPr lang="de-DE" sz="1800" dirty="0">
              <a:ea typeface="Calibri" panose="020F0502020204030204"/>
              <a:cs typeface="Calibri" panose="020F0502020204030204"/>
            </a:endParaRPr>
          </a:p>
          <a:p>
            <a:endParaRPr lang="de-DE" sz="1800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6" name="Grafik 5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FBB66F14-A0C6-BB76-C80C-FDBFFD998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4884" y="2314073"/>
            <a:ext cx="3826043" cy="3842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5976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8B3FD6-5B3D-99CF-DBE2-77927EF22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2B3D96-2CCC-6BD9-714C-D0A2CC465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100" b="1" kern="1200" dirty="0" err="1">
                <a:latin typeface="+mj-lt"/>
                <a:ea typeface="+mj-ea"/>
                <a:cs typeface="+mj-cs"/>
              </a:rPr>
              <a:t>Aufgabenverteilung</a:t>
            </a:r>
            <a:r>
              <a:rPr lang="en-US" sz="6100" b="1" kern="1200" dirty="0">
                <a:latin typeface="+mj-lt"/>
                <a:ea typeface="+mj-ea"/>
                <a:cs typeface="+mj-cs"/>
              </a:rPr>
              <a:t> und </a:t>
            </a:r>
            <a:r>
              <a:rPr lang="en-US" sz="6100" b="1" kern="1200" dirty="0" err="1">
                <a:latin typeface="+mj-lt"/>
                <a:ea typeface="+mj-ea"/>
                <a:cs typeface="+mj-cs"/>
              </a:rPr>
              <a:t>Arbeitszeit</a:t>
            </a:r>
            <a:r>
              <a:rPr lang="en-US" sz="6100" b="1" kern="1200" dirty="0"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32889886-B241-DDAC-33D9-5D3AA2E632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629375"/>
              </p:ext>
            </p:extLst>
          </p:nvPr>
        </p:nvGraphicFramePr>
        <p:xfrm>
          <a:off x="320040" y="2985510"/>
          <a:ext cx="11548874" cy="2882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862">
                  <a:extLst>
                    <a:ext uri="{9D8B030D-6E8A-4147-A177-3AD203B41FA5}">
                      <a16:colId xmlns:a16="http://schemas.microsoft.com/office/drawing/2014/main" val="590342022"/>
                    </a:ext>
                  </a:extLst>
                </a:gridCol>
                <a:gridCol w="2898985">
                  <a:extLst>
                    <a:ext uri="{9D8B030D-6E8A-4147-A177-3AD203B41FA5}">
                      <a16:colId xmlns:a16="http://schemas.microsoft.com/office/drawing/2014/main" val="4189326953"/>
                    </a:ext>
                  </a:extLst>
                </a:gridCol>
                <a:gridCol w="2856862">
                  <a:extLst>
                    <a:ext uri="{9D8B030D-6E8A-4147-A177-3AD203B41FA5}">
                      <a16:colId xmlns:a16="http://schemas.microsoft.com/office/drawing/2014/main" val="3589730987"/>
                    </a:ext>
                  </a:extLst>
                </a:gridCol>
                <a:gridCol w="2936165">
                  <a:extLst>
                    <a:ext uri="{9D8B030D-6E8A-4147-A177-3AD203B41FA5}">
                      <a16:colId xmlns:a16="http://schemas.microsoft.com/office/drawing/2014/main" val="663183617"/>
                    </a:ext>
                  </a:extLst>
                </a:gridCol>
              </a:tblGrid>
              <a:tr h="360285">
                <a:tc>
                  <a:txBody>
                    <a:bodyPr/>
                    <a:lstStyle/>
                    <a:p>
                      <a:pPr algn="ctr"/>
                      <a:endParaRPr lang="de-DE" sz="1600"/>
                    </a:p>
                  </a:txBody>
                  <a:tcPr marL="81883" marR="81883" marT="40941" marB="409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/>
                        <a:t>Baris </a:t>
                      </a:r>
                      <a:r>
                        <a:rPr lang="de-DE" sz="1600" err="1"/>
                        <a:t>Usuoglu</a:t>
                      </a:r>
                    </a:p>
                  </a:txBody>
                  <a:tcPr marL="81883" marR="81883" marT="40941" marB="409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/>
                        <a:t>Daniel Shapiro</a:t>
                      </a:r>
                    </a:p>
                  </a:txBody>
                  <a:tcPr marL="81883" marR="81883" marT="40941" marB="409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/>
                        <a:t>Steven Haupenthal</a:t>
                      </a:r>
                    </a:p>
                  </a:txBody>
                  <a:tcPr marL="81883" marR="81883" marT="40941" marB="40941"/>
                </a:tc>
                <a:extLst>
                  <a:ext uri="{0D108BD9-81ED-4DB2-BD59-A6C34878D82A}">
                    <a16:rowId xmlns:a16="http://schemas.microsoft.com/office/drawing/2014/main" val="2164349463"/>
                  </a:ext>
                </a:extLst>
              </a:tr>
              <a:tr h="360285">
                <a:tc>
                  <a:txBody>
                    <a:bodyPr/>
                    <a:lstStyle/>
                    <a:p>
                      <a:pPr algn="ctr"/>
                      <a:r>
                        <a:rPr lang="de-DE" sz="1600"/>
                        <a:t>Zuständig für:</a:t>
                      </a:r>
                    </a:p>
                  </a:txBody>
                  <a:tcPr marL="81883" marR="81883" marT="40941" marB="409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/>
                        <a:t>Zusammenbau der Hardware</a:t>
                      </a:r>
                    </a:p>
                  </a:txBody>
                  <a:tcPr marL="81883" marR="81883" marT="40941" marB="409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err="1"/>
                        <a:t>Grafana</a:t>
                      </a:r>
                      <a:r>
                        <a:rPr lang="de-DE" sz="1600"/>
                        <a:t> Dashboards</a:t>
                      </a:r>
                    </a:p>
                  </a:txBody>
                  <a:tcPr marL="81883" marR="81883" marT="40941" marB="409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err="1"/>
                        <a:t>Grafana</a:t>
                      </a:r>
                      <a:r>
                        <a:rPr lang="de-DE" sz="1600"/>
                        <a:t> Dashboards</a:t>
                      </a:r>
                    </a:p>
                  </a:txBody>
                  <a:tcPr marL="81883" marR="81883" marT="40941" marB="40941"/>
                </a:tc>
                <a:extLst>
                  <a:ext uri="{0D108BD9-81ED-4DB2-BD59-A6C34878D82A}">
                    <a16:rowId xmlns:a16="http://schemas.microsoft.com/office/drawing/2014/main" val="944913637"/>
                  </a:ext>
                </a:extLst>
              </a:tr>
              <a:tr h="360285">
                <a:tc>
                  <a:txBody>
                    <a:bodyPr/>
                    <a:lstStyle/>
                    <a:p>
                      <a:pPr algn="ctr"/>
                      <a:endParaRPr lang="de-DE" sz="1600"/>
                    </a:p>
                  </a:txBody>
                  <a:tcPr marL="81883" marR="81883" marT="40941" marB="409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/>
                        <a:t>Software für ESP32</a:t>
                      </a:r>
                    </a:p>
                  </a:txBody>
                  <a:tcPr marL="81883" marR="81883" marT="40941" marB="409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/>
                        <a:t>Kalender API</a:t>
                      </a:r>
                    </a:p>
                  </a:txBody>
                  <a:tcPr marL="81883" marR="81883" marT="40941" marB="409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/>
                        <a:t>E-Mail Routine</a:t>
                      </a:r>
                    </a:p>
                  </a:txBody>
                  <a:tcPr marL="81883" marR="81883" marT="40941" marB="40941"/>
                </a:tc>
                <a:extLst>
                  <a:ext uri="{0D108BD9-81ED-4DB2-BD59-A6C34878D82A}">
                    <a16:rowId xmlns:a16="http://schemas.microsoft.com/office/drawing/2014/main" val="4192330912"/>
                  </a:ext>
                </a:extLst>
              </a:tr>
              <a:tr h="360285">
                <a:tc>
                  <a:txBody>
                    <a:bodyPr/>
                    <a:lstStyle/>
                    <a:p>
                      <a:pPr algn="ctr"/>
                      <a:endParaRPr lang="de-DE" sz="1600"/>
                    </a:p>
                  </a:txBody>
                  <a:tcPr marL="81883" marR="81883" marT="40941" marB="409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/>
                        <a:t>Kommunikation Von ESP32</a:t>
                      </a:r>
                    </a:p>
                  </a:txBody>
                  <a:tcPr marL="81883" marR="81883" marT="40941" marB="409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err="1"/>
                        <a:t>NodeRed</a:t>
                      </a:r>
                      <a:r>
                        <a:rPr lang="de-DE" sz="1600"/>
                        <a:t> </a:t>
                      </a:r>
                      <a:r>
                        <a:rPr lang="de-DE" sz="1600" err="1"/>
                        <a:t>TestNodes</a:t>
                      </a:r>
                    </a:p>
                  </a:txBody>
                  <a:tcPr marL="81883" marR="81883" marT="40941" marB="409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err="1"/>
                        <a:t>NodeRed</a:t>
                      </a:r>
                      <a:r>
                        <a:rPr lang="de-DE" sz="1600"/>
                        <a:t> CSV Parser</a:t>
                      </a:r>
                    </a:p>
                  </a:txBody>
                  <a:tcPr marL="81883" marR="81883" marT="40941" marB="40941"/>
                </a:tc>
                <a:extLst>
                  <a:ext uri="{0D108BD9-81ED-4DB2-BD59-A6C34878D82A}">
                    <a16:rowId xmlns:a16="http://schemas.microsoft.com/office/drawing/2014/main" val="1946465598"/>
                  </a:ext>
                </a:extLst>
              </a:tr>
              <a:tr h="360285">
                <a:tc>
                  <a:txBody>
                    <a:bodyPr/>
                    <a:lstStyle/>
                    <a:p>
                      <a:pPr algn="ctr"/>
                      <a:endParaRPr lang="de-DE" sz="1600"/>
                    </a:p>
                  </a:txBody>
                  <a:tcPr marL="81883" marR="81883" marT="40941" marB="409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/>
                        <a:t>Einrichtung Lora &amp; WLAN</a:t>
                      </a:r>
                    </a:p>
                  </a:txBody>
                  <a:tcPr marL="81883" marR="81883" marT="40941" marB="409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/>
                        <a:t>Docker </a:t>
                      </a:r>
                    </a:p>
                  </a:txBody>
                  <a:tcPr marL="81883" marR="81883" marT="40941" marB="409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err="1"/>
                        <a:t>Mosquitto</a:t>
                      </a:r>
                      <a:r>
                        <a:rPr lang="de-DE" sz="1600"/>
                        <a:t> Broker</a:t>
                      </a:r>
                    </a:p>
                  </a:txBody>
                  <a:tcPr marL="81883" marR="81883" marT="40941" marB="40941"/>
                </a:tc>
                <a:extLst>
                  <a:ext uri="{0D108BD9-81ED-4DB2-BD59-A6C34878D82A}">
                    <a16:rowId xmlns:a16="http://schemas.microsoft.com/office/drawing/2014/main" val="2391880836"/>
                  </a:ext>
                </a:extLst>
              </a:tr>
              <a:tr h="360285">
                <a:tc>
                  <a:txBody>
                    <a:bodyPr/>
                    <a:lstStyle/>
                    <a:p>
                      <a:pPr algn="ctr"/>
                      <a:endParaRPr lang="de-DE" sz="1600"/>
                    </a:p>
                  </a:txBody>
                  <a:tcPr marL="81883" marR="81883" marT="40941" marB="409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/>
                        <a:t>Code </a:t>
                      </a:r>
                      <a:r>
                        <a:rPr lang="de-DE" sz="1600" err="1"/>
                        <a:t>Refactoring</a:t>
                      </a:r>
                    </a:p>
                  </a:txBody>
                  <a:tcPr marL="81883" marR="81883" marT="40941" marB="409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/>
                        <a:t>Wetter API</a:t>
                      </a:r>
                    </a:p>
                  </a:txBody>
                  <a:tcPr marL="81883" marR="81883" marT="40941" marB="409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/>
                        <a:t>Dokumentation</a:t>
                      </a:r>
                    </a:p>
                  </a:txBody>
                  <a:tcPr marL="81883" marR="81883" marT="40941" marB="40941"/>
                </a:tc>
                <a:extLst>
                  <a:ext uri="{0D108BD9-81ED-4DB2-BD59-A6C34878D82A}">
                    <a16:rowId xmlns:a16="http://schemas.microsoft.com/office/drawing/2014/main" val="3680904862"/>
                  </a:ext>
                </a:extLst>
              </a:tr>
              <a:tr h="360285">
                <a:tc>
                  <a:txBody>
                    <a:bodyPr/>
                    <a:lstStyle/>
                    <a:p>
                      <a:pPr algn="ctr"/>
                      <a:endParaRPr lang="de-DE" sz="1600"/>
                    </a:p>
                  </a:txBody>
                  <a:tcPr marL="81883" marR="81883" marT="40941" marB="40941"/>
                </a:tc>
                <a:tc>
                  <a:txBody>
                    <a:bodyPr/>
                    <a:lstStyle/>
                    <a:p>
                      <a:pPr algn="ctr"/>
                      <a:endParaRPr lang="de-DE" sz="1600"/>
                    </a:p>
                  </a:txBody>
                  <a:tcPr marL="81883" marR="81883" marT="40941" marB="409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/>
                        <a:t>Code </a:t>
                      </a:r>
                      <a:r>
                        <a:rPr lang="de-DE" sz="1600" err="1"/>
                        <a:t>Refactoring</a:t>
                      </a:r>
                    </a:p>
                  </a:txBody>
                  <a:tcPr marL="81883" marR="81883" marT="40941" marB="409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/>
                        <a:t>Code </a:t>
                      </a:r>
                      <a:r>
                        <a:rPr lang="de-DE" sz="1600" err="1"/>
                        <a:t>Refactoring</a:t>
                      </a:r>
                    </a:p>
                  </a:txBody>
                  <a:tcPr marL="81883" marR="81883" marT="40941" marB="40941"/>
                </a:tc>
                <a:extLst>
                  <a:ext uri="{0D108BD9-81ED-4DB2-BD59-A6C34878D82A}">
                    <a16:rowId xmlns:a16="http://schemas.microsoft.com/office/drawing/2014/main" val="4217200304"/>
                  </a:ext>
                </a:extLst>
              </a:tr>
              <a:tr h="36028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16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Gesamte Arbeitszeit</a:t>
                      </a:r>
                      <a:endParaRPr lang="de-DE" sz="1600"/>
                    </a:p>
                  </a:txBody>
                  <a:tcPr marL="81883" marR="81883" marT="40941" marB="409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/>
                        <a:t>98 Stunden</a:t>
                      </a:r>
                    </a:p>
                  </a:txBody>
                  <a:tcPr marL="81883" marR="81883" marT="40941" marB="409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/>
                        <a:t>92 Stunden</a:t>
                      </a:r>
                    </a:p>
                  </a:txBody>
                  <a:tcPr marL="81883" marR="81883" marT="40941" marB="409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/>
                        <a:t>90 Stunden</a:t>
                      </a:r>
                    </a:p>
                  </a:txBody>
                  <a:tcPr marL="81883" marR="81883" marT="40941" marB="40941"/>
                </a:tc>
                <a:extLst>
                  <a:ext uri="{0D108BD9-81ED-4DB2-BD59-A6C34878D82A}">
                    <a16:rowId xmlns:a16="http://schemas.microsoft.com/office/drawing/2014/main" val="3866155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6734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358227-2786-1D6F-1796-DD8DB8ECE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7D479E-83D8-279E-04E4-5EB8C0C24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 err="1"/>
              <a:t>Fazit</a:t>
            </a:r>
            <a:r>
              <a:rPr lang="en-US" sz="6600" b="1" dirty="0"/>
              <a:t> und </a:t>
            </a:r>
            <a:r>
              <a:rPr lang="en-US" sz="6600" b="1" dirty="0" err="1"/>
              <a:t>Ausblick</a:t>
            </a:r>
            <a:endParaRPr lang="de-DE" dirty="0" err="1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1FE21F2D-6A45-32B0-7CE1-0BCCBF03B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1E3F260-88DB-B3EE-0425-8D8F3FC9099E}"/>
              </a:ext>
            </a:extLst>
          </p:cNvPr>
          <p:cNvSpPr txBox="1"/>
          <p:nvPr/>
        </p:nvSpPr>
        <p:spPr>
          <a:xfrm>
            <a:off x="517547" y="1733184"/>
            <a:ext cx="11578633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2400" b="1" dirty="0">
                <a:ea typeface="Calibri"/>
                <a:cs typeface="Calibri"/>
              </a:rPr>
              <a:t>Fazit:</a:t>
            </a:r>
          </a:p>
          <a:p>
            <a:pPr marL="342900" indent="-342900">
              <a:buFont typeface="Arial"/>
              <a:buChar char="•"/>
            </a:pPr>
            <a:r>
              <a:rPr lang="de-DE" sz="2000" dirty="0">
                <a:ea typeface="+mn-lt"/>
                <a:cs typeface="+mn-lt"/>
              </a:rPr>
              <a:t>Interessantes </a:t>
            </a:r>
            <a:r>
              <a:rPr lang="de-DE" sz="2000" dirty="0">
                <a:ea typeface="Calibri"/>
                <a:cs typeface="Calibri"/>
              </a:rPr>
              <a:t>Projekt</a:t>
            </a:r>
          </a:p>
          <a:p>
            <a:pPr marL="342900" indent="-342900">
              <a:buFont typeface="Arial"/>
              <a:buChar char="•"/>
            </a:pPr>
            <a:r>
              <a:rPr lang="de-DE" sz="2000" dirty="0">
                <a:ea typeface="Calibri"/>
                <a:cs typeface="Calibri"/>
              </a:rPr>
              <a:t>Projektgröße &amp; Komplexität &gt; Zeitrahmen</a:t>
            </a:r>
          </a:p>
          <a:p>
            <a:pPr marL="342900" indent="-342900">
              <a:buFont typeface="Arial"/>
              <a:buChar char="•"/>
            </a:pPr>
            <a:r>
              <a:rPr lang="de-DE" sz="2000" dirty="0">
                <a:ea typeface="Calibri"/>
                <a:cs typeface="Calibri"/>
              </a:rPr>
              <a:t>Vieles gelernt über den Umgang mit Mikrocontrollern</a:t>
            </a:r>
          </a:p>
          <a:p>
            <a:endParaRPr lang="de-DE" sz="2000" dirty="0">
              <a:ea typeface="Calibri"/>
              <a:cs typeface="Calibri"/>
            </a:endParaRPr>
          </a:p>
          <a:p>
            <a:endParaRPr lang="de-DE" sz="2000" dirty="0">
              <a:ea typeface="Calibri"/>
              <a:cs typeface="Calibri"/>
            </a:endParaRPr>
          </a:p>
          <a:p>
            <a:r>
              <a:rPr lang="de-DE" sz="2400" b="1" dirty="0">
                <a:ea typeface="Calibri"/>
                <a:cs typeface="Calibri"/>
              </a:rPr>
              <a:t>Ausblick:</a:t>
            </a:r>
          </a:p>
          <a:p>
            <a:pPr marL="342900" indent="-342900">
              <a:buFont typeface="Arial"/>
              <a:buChar char="•"/>
            </a:pPr>
            <a:r>
              <a:rPr lang="de-DE" sz="2000" dirty="0">
                <a:ea typeface="Calibri"/>
                <a:cs typeface="Calibri"/>
              </a:rPr>
              <a:t>OBD Anschluss erfolgreich verwenden können</a:t>
            </a:r>
          </a:p>
          <a:p>
            <a:pPr marL="342900" indent="-342900">
              <a:buFont typeface="Arial"/>
              <a:buChar char="•"/>
            </a:pPr>
            <a:r>
              <a:rPr lang="de-DE" sz="2000" dirty="0">
                <a:ea typeface="Calibri"/>
                <a:cs typeface="Calibri"/>
              </a:rPr>
              <a:t>Echte Fahrttests</a:t>
            </a:r>
          </a:p>
          <a:p>
            <a:pPr marL="342900" indent="-342900">
              <a:buFont typeface="Arial"/>
              <a:buChar char="•"/>
            </a:pPr>
            <a:r>
              <a:rPr lang="de-DE" sz="2000" dirty="0">
                <a:ea typeface="Calibri"/>
                <a:cs typeface="Calibri"/>
              </a:rPr>
              <a:t>Weitere Routinen einbinden und optimieren</a:t>
            </a:r>
          </a:p>
          <a:p>
            <a:pPr marL="342900" indent="-342900">
              <a:buFont typeface="Arial"/>
              <a:buChar char="•"/>
            </a:pPr>
            <a:r>
              <a:rPr lang="de-DE" sz="2000" dirty="0">
                <a:ea typeface="Calibri"/>
                <a:cs typeface="Calibri"/>
              </a:rPr>
              <a:t>Alternative zu Google </a:t>
            </a:r>
            <a:r>
              <a:rPr lang="de-DE" sz="2000" dirty="0" err="1">
                <a:ea typeface="Calibri"/>
                <a:cs typeface="Calibri"/>
              </a:rPr>
              <a:t>Calender</a:t>
            </a:r>
            <a:r>
              <a:rPr lang="de-DE" sz="2000" dirty="0">
                <a:ea typeface="Calibri"/>
                <a:cs typeface="Calibri"/>
              </a:rPr>
              <a:t> nutzen um Konto Sperrungen zu meiden</a:t>
            </a:r>
          </a:p>
          <a:p>
            <a:pPr marL="342900" indent="-342900">
              <a:buFont typeface="Arial"/>
              <a:buChar char="•"/>
            </a:pPr>
            <a:endParaRPr lang="de-DE" sz="20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de-DE" sz="20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de-DE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20653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7346749-2F55-47CA-8624-8973C9CAD2DC}">
  <we:reference id="wa200005566" version="1.0.0.0" store="en-US" storeType="omex"/>
  <we:alternateReferences>
    <we:reference id="wa200005566" version="1.0.0.0" store="omex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435</Words>
  <Application>Microsoft Office PowerPoint</Application>
  <PresentationFormat>Breitbild</PresentationFormat>
  <Paragraphs>143</Paragraphs>
  <Slides>17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Office</vt:lpstr>
      <vt:lpstr>Smart Car</vt:lpstr>
      <vt:lpstr>Inhalt</vt:lpstr>
      <vt:lpstr>Rückblick</vt:lpstr>
      <vt:lpstr>Hardware Ansatz</vt:lpstr>
      <vt:lpstr>Hardware jetzt</vt:lpstr>
      <vt:lpstr>ESP Simulation</vt:lpstr>
      <vt:lpstr>Backend und Dataflows</vt:lpstr>
      <vt:lpstr>Backend und Dataflows</vt:lpstr>
      <vt:lpstr>Grafana Dashboards</vt:lpstr>
      <vt:lpstr>Grafana Dashboard Flotte</vt:lpstr>
      <vt:lpstr>Grafana Dashboard Detail</vt:lpstr>
      <vt:lpstr>Email Benachrichtigung</vt:lpstr>
      <vt:lpstr>Kalender Eintrag</vt:lpstr>
      <vt:lpstr>Routinen</vt:lpstr>
      <vt:lpstr>Unsere Hürden</vt:lpstr>
      <vt:lpstr>Aufgabenverteilung und Arbeitszeit </vt:lpstr>
      <vt:lpstr>Fazit und Ausblick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Car</dc:title>
  <dc:creator>Shapiro Daniel</dc:creator>
  <cp:lastModifiedBy>steven haupenthal</cp:lastModifiedBy>
  <cp:revision>1004</cp:revision>
  <dcterms:created xsi:type="dcterms:W3CDTF">2026-02-03T09:46:33Z</dcterms:created>
  <dcterms:modified xsi:type="dcterms:W3CDTF">2026-02-04T15:00:02Z</dcterms:modified>
</cp:coreProperties>
</file>